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72" r:id="rId4"/>
    <p:sldId id="271" r:id="rId5"/>
    <p:sldId id="258" r:id="rId6"/>
    <p:sldId id="270" r:id="rId7"/>
    <p:sldId id="268" r:id="rId8"/>
    <p:sldId id="259" r:id="rId9"/>
    <p:sldId id="269" r:id="rId10"/>
    <p:sldId id="273" r:id="rId11"/>
    <p:sldId id="260" r:id="rId12"/>
    <p:sldId id="266" r:id="rId13"/>
    <p:sldId id="261" r:id="rId14"/>
    <p:sldId id="267" r:id="rId15"/>
    <p:sldId id="265" r:id="rId1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14F36"/>
    <a:srgbClr val="4B28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Style moyen 2 - Accentuation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Style moyen 2 - Accentuation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9864" autoAdjust="0"/>
  </p:normalViewPr>
  <p:slideViewPr>
    <p:cSldViewPr snapToGrid="0">
      <p:cViewPr varScale="1">
        <p:scale>
          <a:sx n="114" d="100"/>
          <a:sy n="114" d="100"/>
        </p:scale>
        <p:origin x="992" y="1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2BC4D4-5B74-460C-954E-D4B62CE5E421}" type="datetimeFigureOut">
              <a:rPr lang="en-GB" smtClean="0"/>
              <a:t>15/09/2026</a:t>
            </a:fld>
            <a:endParaRPr lang="en-GB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03AAF0-D3FB-4772-8BED-E4A90370D72C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48554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solidFill>
                  <a:srgbClr val="1F1F1F"/>
                </a:solidFill>
                <a:latin typeface="Google Sans Text"/>
              </a:rPr>
              <a:t>Since 1995 in Paris</a:t>
            </a:r>
          </a:p>
          <a:p>
            <a:r>
              <a:rPr lang="en-US">
                <a:solidFill>
                  <a:srgbClr val="1F1F1F"/>
                </a:solidFill>
                <a:latin typeface="Google Sans Text"/>
              </a:rPr>
              <a:t>In roughly ten years, we’ve gone from an organization that only runs an annual meeting, to a Society with 6 Regional Chapters and 5 Special Interest Groups (SIGs) and events throughout the year. </a:t>
            </a:r>
          </a:p>
          <a:p>
            <a:r>
              <a:rPr lang="en-US">
                <a:solidFill>
                  <a:srgbClr val="1F1F1F"/>
                </a:solidFill>
                <a:latin typeface="Google Sans Text"/>
              </a:rPr>
              <a:t>Awards: </a:t>
            </a:r>
            <a:r>
              <a:rPr lang="en-US" b="1" i="1">
                <a:solidFill>
                  <a:srgbClr val="1F1F1F"/>
                </a:solidFill>
                <a:latin typeface="Google Sans Text"/>
              </a:rPr>
              <a:t>Glass Brain</a:t>
            </a:r>
            <a:r>
              <a:rPr lang="en-US">
                <a:solidFill>
                  <a:srgbClr val="1F1F1F"/>
                </a:solidFill>
                <a:latin typeface="Google Sans Text"/>
              </a:rPr>
              <a:t>,</a:t>
            </a:r>
            <a:r>
              <a:rPr lang="en-US" b="1" i="1">
                <a:solidFill>
                  <a:srgbClr val="1F1F1F"/>
                </a:solidFill>
                <a:latin typeface="Google Sans Text"/>
              </a:rPr>
              <a:t> open science, Replication study, </a:t>
            </a:r>
            <a:r>
              <a:rPr lang="fr-FR" sz="1200" b="1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Early Career Investigator , Diversity &amp; Inclusivity Champion, Education in Neuroimaging, Karl Zilles, Mentor, merit abstract, Sustainability </a:t>
            </a:r>
            <a:endParaRPr lang="en-US">
              <a:solidFill>
                <a:srgbClr val="1F1F1F"/>
              </a:solidFill>
              <a:latin typeface="Google Sans Text"/>
            </a:endParaRPr>
          </a:p>
          <a:p>
            <a:r>
              <a:rPr lang="en-US">
                <a:solidFill>
                  <a:srgbClr val="1F1F1F"/>
                </a:solidFill>
                <a:latin typeface="Google Sans Text"/>
              </a:rPr>
              <a:t>France: Daniel Marguiles, Early Career Investigator / Stephanie Forkel Education in Neuroimaging / article de </a:t>
            </a:r>
            <a:r>
              <a:rPr lang="fr-FR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Marion Leboyer, Edouard Duchesnay, Pierrick Coupé, Replication study</a:t>
            </a:r>
            <a:endParaRPr lang="en-GB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03AAF0-D3FB-4772-8BED-E4A90370D72C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23192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solidFill>
                  <a:srgbClr val="1F1F1F"/>
                </a:solidFill>
                <a:latin typeface="Google Sans Text"/>
              </a:rPr>
              <a:t>Since 1995 in Paris</a:t>
            </a:r>
          </a:p>
          <a:p>
            <a:r>
              <a:rPr lang="en-US">
                <a:solidFill>
                  <a:srgbClr val="1F1F1F"/>
                </a:solidFill>
                <a:latin typeface="Google Sans Text"/>
              </a:rPr>
              <a:t>In roughly ten years, we’ve gone from an organization that only runs an annual meeting, to a Society with 6 Regional Chapters and 5 Special Interest Groups (SIGs) and events throughout the year. </a:t>
            </a:r>
          </a:p>
          <a:p>
            <a:r>
              <a:rPr lang="en-US">
                <a:solidFill>
                  <a:srgbClr val="1F1F1F"/>
                </a:solidFill>
                <a:latin typeface="Google Sans Text"/>
              </a:rPr>
              <a:t>Awards: </a:t>
            </a:r>
            <a:r>
              <a:rPr lang="en-US" b="1" i="1">
                <a:solidFill>
                  <a:srgbClr val="1F1F1F"/>
                </a:solidFill>
                <a:latin typeface="Google Sans Text"/>
              </a:rPr>
              <a:t>Glass Brain</a:t>
            </a:r>
            <a:r>
              <a:rPr lang="en-US">
                <a:solidFill>
                  <a:srgbClr val="1F1F1F"/>
                </a:solidFill>
                <a:latin typeface="Google Sans Text"/>
              </a:rPr>
              <a:t>,</a:t>
            </a:r>
            <a:r>
              <a:rPr lang="en-US" b="1" i="1">
                <a:solidFill>
                  <a:srgbClr val="1F1F1F"/>
                </a:solidFill>
                <a:latin typeface="Google Sans Text"/>
              </a:rPr>
              <a:t> open science, Replication study, </a:t>
            </a:r>
            <a:r>
              <a:rPr lang="fr-FR" sz="1200" b="1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Early Career Investigator , Diversity &amp; Inclusivity Champion, Education in Neuroimaging, Karl Zilles, Mentor, merit abstract, Sustainability </a:t>
            </a:r>
            <a:endParaRPr lang="en-US">
              <a:solidFill>
                <a:srgbClr val="1F1F1F"/>
              </a:solidFill>
              <a:latin typeface="Google Sans Text"/>
            </a:endParaRPr>
          </a:p>
          <a:p>
            <a:r>
              <a:rPr lang="en-US">
                <a:solidFill>
                  <a:srgbClr val="1F1F1F"/>
                </a:solidFill>
                <a:latin typeface="Google Sans Text"/>
              </a:rPr>
              <a:t>France: Daniel Marguiles, Early Career Investigator / Stephanie Forkel Education in Neuroimaging / article de </a:t>
            </a:r>
            <a:r>
              <a:rPr lang="fr-FR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Marion Leboyer, Edouard Duchesnay, Pierrick Coupé, Replication study</a:t>
            </a:r>
            <a:endParaRPr lang="en-GB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03AAF0-D3FB-4772-8BED-E4A90370D72C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70378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solidFill>
                  <a:srgbClr val="1F1F1F"/>
                </a:solidFill>
                <a:latin typeface="Google Sans Text"/>
              </a:rPr>
              <a:t>Since 1995 in Paris</a:t>
            </a:r>
          </a:p>
          <a:p>
            <a:r>
              <a:rPr lang="en-US">
                <a:solidFill>
                  <a:srgbClr val="1F1F1F"/>
                </a:solidFill>
                <a:latin typeface="Google Sans Text"/>
              </a:rPr>
              <a:t>In roughly ten years, we’ve gone from an organization that only runs an annual meeting, to a Society with 6 Regional Chapters and 5 Special Interest Groups (SIGs) and events throughout the year. </a:t>
            </a:r>
          </a:p>
          <a:p>
            <a:r>
              <a:rPr lang="en-US">
                <a:solidFill>
                  <a:srgbClr val="1F1F1F"/>
                </a:solidFill>
                <a:latin typeface="Google Sans Text"/>
              </a:rPr>
              <a:t>Awards: </a:t>
            </a:r>
            <a:r>
              <a:rPr lang="en-US" b="1" i="1">
                <a:solidFill>
                  <a:srgbClr val="1F1F1F"/>
                </a:solidFill>
                <a:latin typeface="Google Sans Text"/>
              </a:rPr>
              <a:t>Glass Brain</a:t>
            </a:r>
            <a:r>
              <a:rPr lang="en-US">
                <a:solidFill>
                  <a:srgbClr val="1F1F1F"/>
                </a:solidFill>
                <a:latin typeface="Google Sans Text"/>
              </a:rPr>
              <a:t>,</a:t>
            </a:r>
            <a:r>
              <a:rPr lang="en-US" b="1" i="1">
                <a:solidFill>
                  <a:srgbClr val="1F1F1F"/>
                </a:solidFill>
                <a:latin typeface="Google Sans Text"/>
              </a:rPr>
              <a:t> open science, Replication study, </a:t>
            </a:r>
            <a:r>
              <a:rPr lang="fr-FR" sz="1200" b="1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Early Career Investigator , Diversity &amp; Inclusivity Champion, Education in Neuroimaging, Karl Zilles, Mentor, merit abstract, Sustainability </a:t>
            </a:r>
            <a:endParaRPr lang="en-US">
              <a:solidFill>
                <a:srgbClr val="1F1F1F"/>
              </a:solidFill>
              <a:latin typeface="Google Sans Text"/>
            </a:endParaRPr>
          </a:p>
          <a:p>
            <a:r>
              <a:rPr lang="en-US">
                <a:solidFill>
                  <a:srgbClr val="1F1F1F"/>
                </a:solidFill>
                <a:latin typeface="Google Sans Text"/>
              </a:rPr>
              <a:t>France: Daniel Marguiles, Early Career Investigator / Stephanie Forkel Education in Neuroimaging / article de </a:t>
            </a:r>
            <a:r>
              <a:rPr lang="fr-FR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Marion Leboyer, Edouard Duchesnay, Pierrick Coupé, Replication study</a:t>
            </a:r>
            <a:endParaRPr lang="en-GB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03AAF0-D3FB-4772-8BED-E4A90370D72C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36808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1A285746-6D4C-404C-A5F5-AE3BE8881F59}"/>
              </a:ext>
            </a:extLst>
          </p:cNvPr>
          <p:cNvSpPr/>
          <p:nvPr userDrawn="1"/>
        </p:nvSpPr>
        <p:spPr>
          <a:xfrm>
            <a:off x="0" y="-111"/>
            <a:ext cx="12196533" cy="791399"/>
          </a:xfrm>
          <a:prstGeom prst="rect">
            <a:avLst/>
          </a:prstGeom>
          <a:gradFill>
            <a:gsLst>
              <a:gs pos="0">
                <a:srgbClr val="30529F"/>
              </a:gs>
              <a:gs pos="100000">
                <a:srgbClr val="169064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Line 6">
            <a:extLst>
              <a:ext uri="{FF2B5EF4-FFF2-40B4-BE49-F238E27FC236}">
                <a16:creationId xmlns:a16="http://schemas.microsoft.com/office/drawing/2014/main" id="{086D290A-AE0B-479B-9B91-BD87A885CBC1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0" y="6490746"/>
            <a:ext cx="9159874" cy="0"/>
          </a:xfrm>
          <a:prstGeom prst="line">
            <a:avLst/>
          </a:prstGeom>
          <a:noFill/>
          <a:ln w="6350" cmpd="sng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fr-FR" b="0" i="0">
              <a:latin typeface="Avenir Book" panose="02000503020000020003" pitchFamily="2" charset="0"/>
              <a:cs typeface="Avenir Book"/>
            </a:endParaRPr>
          </a:p>
        </p:txBody>
      </p:sp>
      <p:sp>
        <p:nvSpPr>
          <p:cNvPr id="11" name="Rectangle 11">
            <a:extLst>
              <a:ext uri="{FF2B5EF4-FFF2-40B4-BE49-F238E27FC236}">
                <a16:creationId xmlns:a16="http://schemas.microsoft.com/office/drawing/2014/main" id="{C1FC07AB-66D1-42E7-AB2D-6A734E53113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47918" y="6567318"/>
            <a:ext cx="4243102" cy="2211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r>
              <a:rPr lang="en-GB" sz="1050" b="0" i="0" noProof="0" dirty="0">
                <a:solidFill>
                  <a:srgbClr val="404040"/>
                </a:solidFill>
                <a:latin typeface="+mn-lt"/>
                <a:cs typeface="Avenir Book"/>
              </a:rPr>
              <a:t>Neuro-Imaging </a:t>
            </a:r>
            <a:r>
              <a:rPr lang="en-GB" sz="1050" b="0" i="0" noProof="0">
                <a:solidFill>
                  <a:srgbClr val="404040"/>
                </a:solidFill>
                <a:latin typeface="+mn-lt"/>
                <a:cs typeface="Avenir Book"/>
              </a:rPr>
              <a:t>club #65</a:t>
            </a:r>
            <a:r>
              <a:rPr lang="en-GB" sz="1050" b="0" i="0" baseline="0" noProof="0">
                <a:solidFill>
                  <a:srgbClr val="404040"/>
                </a:solidFill>
                <a:latin typeface="+mn-lt"/>
                <a:cs typeface="Avenir Book"/>
              </a:rPr>
              <a:t> </a:t>
            </a:r>
            <a:r>
              <a:rPr lang="en-GB" sz="1050" b="0" i="0" noProof="0" dirty="0">
                <a:solidFill>
                  <a:srgbClr val="404040"/>
                </a:solidFill>
                <a:latin typeface="+mn-lt"/>
                <a:cs typeface="Avenir Book"/>
              </a:rPr>
              <a:t>– Sept</a:t>
            </a:r>
            <a:r>
              <a:rPr lang="en-GB" sz="1050" b="0" i="0" noProof="0">
                <a:solidFill>
                  <a:srgbClr val="404040"/>
                </a:solidFill>
                <a:latin typeface="+mn-lt"/>
                <a:cs typeface="Avenir Book"/>
              </a:rPr>
              <a:t>. 25</a:t>
            </a:r>
            <a:r>
              <a:rPr lang="en-GB" sz="1050" b="0" i="0" baseline="30000" noProof="0">
                <a:solidFill>
                  <a:srgbClr val="404040"/>
                </a:solidFill>
                <a:latin typeface="+mn-lt"/>
                <a:cs typeface="Avenir Book"/>
              </a:rPr>
              <a:t>th</a:t>
            </a:r>
            <a:r>
              <a:rPr lang="en-GB" sz="1050" b="0" i="0" noProof="0">
                <a:solidFill>
                  <a:srgbClr val="404040"/>
                </a:solidFill>
                <a:latin typeface="+mn-lt"/>
                <a:cs typeface="Avenir Book"/>
              </a:rPr>
              <a:t> 2026</a:t>
            </a:r>
            <a:endParaRPr lang="en-GB" sz="1050" b="0" i="0" noProof="0" dirty="0">
              <a:solidFill>
                <a:srgbClr val="404040"/>
              </a:solidFill>
              <a:latin typeface="+mn-lt"/>
              <a:cs typeface="Avenir Book"/>
            </a:endParaRPr>
          </a:p>
        </p:txBody>
      </p:sp>
      <p:pic>
        <p:nvPicPr>
          <p:cNvPr id="17" name="Image 16">
            <a:extLst>
              <a:ext uri="{FF2B5EF4-FFF2-40B4-BE49-F238E27FC236}">
                <a16:creationId xmlns:a16="http://schemas.microsoft.com/office/drawing/2014/main" id="{4EDBC3B1-C41F-44B8-A618-5A9F4F0D474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9735" y="12591"/>
            <a:ext cx="984544" cy="791399"/>
          </a:xfrm>
          <a:prstGeom prst="rect">
            <a:avLst/>
          </a:prstGeom>
        </p:spPr>
      </p:pic>
      <p:pic>
        <p:nvPicPr>
          <p:cNvPr id="19" name="Image 18">
            <a:extLst>
              <a:ext uri="{FF2B5EF4-FFF2-40B4-BE49-F238E27FC236}">
                <a16:creationId xmlns:a16="http://schemas.microsoft.com/office/drawing/2014/main" id="{E28683CB-1196-4939-A6E0-1101DD27BBB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27891" y="61693"/>
            <a:ext cx="900884" cy="692947"/>
          </a:xfrm>
          <a:prstGeom prst="rect">
            <a:avLst/>
          </a:prstGeom>
          <a:noFill/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7B3A502B-BC06-4250-BDE1-182BA5491D1E}"/>
              </a:ext>
            </a:extLst>
          </p:cNvPr>
          <p:cNvSpPr/>
          <p:nvPr userDrawn="1"/>
        </p:nvSpPr>
        <p:spPr>
          <a:xfrm>
            <a:off x="0" y="6428792"/>
            <a:ext cx="12196533" cy="429208"/>
          </a:xfrm>
          <a:prstGeom prst="rect">
            <a:avLst/>
          </a:prstGeom>
          <a:gradFill>
            <a:gsLst>
              <a:gs pos="0">
                <a:srgbClr val="30529F"/>
              </a:gs>
              <a:gs pos="100000">
                <a:srgbClr val="169064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2" name="Image 21">
            <a:extLst>
              <a:ext uri="{FF2B5EF4-FFF2-40B4-BE49-F238E27FC236}">
                <a16:creationId xmlns:a16="http://schemas.microsoft.com/office/drawing/2014/main" id="{C322BE8A-0432-4E00-A1CF-3C1D624BCC5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1849" y="6474748"/>
            <a:ext cx="363477" cy="363477"/>
          </a:xfrm>
          <a:prstGeom prst="rect">
            <a:avLst/>
          </a:prstGeom>
        </p:spPr>
      </p:pic>
      <p:pic>
        <p:nvPicPr>
          <p:cNvPr id="23" name="Image 22">
            <a:extLst>
              <a:ext uri="{FF2B5EF4-FFF2-40B4-BE49-F238E27FC236}">
                <a16:creationId xmlns:a16="http://schemas.microsoft.com/office/drawing/2014/main" id="{1F1DFEF9-8079-4EA3-B9D8-4A7A74CAFC56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8114" y="6493409"/>
            <a:ext cx="1067499" cy="363477"/>
          </a:xfrm>
          <a:prstGeom prst="rect">
            <a:avLst/>
          </a:prstGeom>
        </p:spPr>
      </p:pic>
      <p:pic>
        <p:nvPicPr>
          <p:cNvPr id="24" name="Image 23">
            <a:extLst>
              <a:ext uri="{FF2B5EF4-FFF2-40B4-BE49-F238E27FC236}">
                <a16:creationId xmlns:a16="http://schemas.microsoft.com/office/drawing/2014/main" id="{C0B573EB-438F-4FFA-AFB0-3B381CA56072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498401" y="6453126"/>
            <a:ext cx="363477" cy="412479"/>
          </a:xfrm>
          <a:prstGeom prst="rect">
            <a:avLst/>
          </a:prstGeom>
        </p:spPr>
      </p:pic>
      <p:pic>
        <p:nvPicPr>
          <p:cNvPr id="25" name="Image 24">
            <a:extLst>
              <a:ext uri="{FF2B5EF4-FFF2-40B4-BE49-F238E27FC236}">
                <a16:creationId xmlns:a16="http://schemas.microsoft.com/office/drawing/2014/main" id="{11BA74A6-DA04-4FA4-AA7F-A43E17AB795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488" t="2724" r="-1" b="1"/>
          <a:stretch/>
        </p:blipFill>
        <p:spPr>
          <a:xfrm>
            <a:off x="7334667" y="6395759"/>
            <a:ext cx="739062" cy="469149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8C1839FD-2E2B-458D-919B-977139C123B6}"/>
              </a:ext>
            </a:extLst>
          </p:cNvPr>
          <p:cNvSpPr/>
          <p:nvPr userDrawn="1"/>
        </p:nvSpPr>
        <p:spPr bwMode="auto">
          <a:xfrm>
            <a:off x="3828999" y="-357374"/>
            <a:ext cx="523875" cy="280855"/>
          </a:xfrm>
          <a:prstGeom prst="rect">
            <a:avLst/>
          </a:prstGeom>
          <a:solidFill>
            <a:srgbClr val="168F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8EB58DA-5786-4260-AB79-055C43C529EE}"/>
              </a:ext>
            </a:extLst>
          </p:cNvPr>
          <p:cNvSpPr/>
          <p:nvPr userDrawn="1"/>
        </p:nvSpPr>
        <p:spPr bwMode="auto">
          <a:xfrm>
            <a:off x="4408433" y="-357374"/>
            <a:ext cx="523875" cy="280855"/>
          </a:xfrm>
          <a:prstGeom prst="rect">
            <a:avLst/>
          </a:prstGeom>
          <a:solidFill>
            <a:srgbClr val="2586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8848B60-A1C2-4020-9A79-A154B09DD1D1}"/>
              </a:ext>
            </a:extLst>
          </p:cNvPr>
          <p:cNvSpPr/>
          <p:nvPr userDrawn="1"/>
        </p:nvSpPr>
        <p:spPr bwMode="auto">
          <a:xfrm>
            <a:off x="5010937" y="-357374"/>
            <a:ext cx="523875" cy="280855"/>
          </a:xfrm>
          <a:prstGeom prst="rect">
            <a:avLst/>
          </a:prstGeom>
          <a:solidFill>
            <a:srgbClr val="2C77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D76A2CF-25C4-4C97-9B60-7A7A23993A98}"/>
              </a:ext>
            </a:extLst>
          </p:cNvPr>
          <p:cNvSpPr/>
          <p:nvPr userDrawn="1"/>
        </p:nvSpPr>
        <p:spPr bwMode="auto">
          <a:xfrm>
            <a:off x="5599974" y="-357374"/>
            <a:ext cx="523875" cy="280855"/>
          </a:xfrm>
          <a:prstGeom prst="rect">
            <a:avLst/>
          </a:prstGeom>
          <a:solidFill>
            <a:srgbClr val="3053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Rectangle 1">
            <a:extLst>
              <a:ext uri="{FF2B5EF4-FFF2-40B4-BE49-F238E27FC236}">
                <a16:creationId xmlns:a16="http://schemas.microsoft.com/office/drawing/2014/main" id="{2803E449-788F-45F0-831E-5B2DA52BA6DF}"/>
              </a:ext>
            </a:extLst>
          </p:cNvPr>
          <p:cNvSpPr/>
          <p:nvPr userDrawn="1"/>
        </p:nvSpPr>
        <p:spPr bwMode="auto">
          <a:xfrm>
            <a:off x="11691858" y="6478616"/>
            <a:ext cx="49404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>
              <a:defRPr/>
            </a:pPr>
            <a:fld id="{6E27822B-DED5-46D6-B8F1-E873A95E96EA}" type="slidenum">
              <a:rPr lang="en-GB" sz="1400">
                <a:solidFill>
                  <a:schemeClr val="bg1">
                    <a:lumMod val="65000"/>
                  </a:schemeClr>
                </a:solidFill>
              </a:rPr>
              <a:t>‹N°›</a:t>
            </a:fld>
            <a:endParaRPr lang="en-GB" sz="140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1" name="Rectangle 11">
            <a:extLst>
              <a:ext uri="{FF2B5EF4-FFF2-40B4-BE49-F238E27FC236}">
                <a16:creationId xmlns:a16="http://schemas.microsoft.com/office/drawing/2014/main" id="{54C6FF94-6BFF-471E-A1A2-FBC76681981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9772" y="6531235"/>
            <a:ext cx="4243102" cy="2211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r>
              <a:rPr lang="en-GB" sz="1200" b="0" i="0" noProof="0" dirty="0">
                <a:solidFill>
                  <a:srgbClr val="404040"/>
                </a:solidFill>
                <a:latin typeface="+mn-lt"/>
                <a:cs typeface="Avenir Book"/>
              </a:rPr>
              <a:t>Neuro-Imaging </a:t>
            </a:r>
            <a:r>
              <a:rPr lang="en-GB" sz="1200" b="0" i="0" noProof="0">
                <a:solidFill>
                  <a:srgbClr val="404040"/>
                </a:solidFill>
                <a:latin typeface="+mn-lt"/>
                <a:cs typeface="Avenir Book"/>
              </a:rPr>
              <a:t>club #65</a:t>
            </a:r>
            <a:r>
              <a:rPr lang="en-GB" sz="1200" b="0" i="0" baseline="0" noProof="0">
                <a:solidFill>
                  <a:srgbClr val="404040"/>
                </a:solidFill>
                <a:latin typeface="+mn-lt"/>
                <a:cs typeface="Avenir Book"/>
              </a:rPr>
              <a:t> </a:t>
            </a:r>
            <a:r>
              <a:rPr lang="en-GB" sz="1200" b="0" i="0" noProof="0" dirty="0">
                <a:solidFill>
                  <a:srgbClr val="404040"/>
                </a:solidFill>
                <a:latin typeface="+mn-lt"/>
                <a:cs typeface="Avenir Book"/>
              </a:rPr>
              <a:t>– Sept</a:t>
            </a:r>
            <a:r>
              <a:rPr lang="en-GB" sz="1200" b="0" i="0" noProof="0">
                <a:solidFill>
                  <a:srgbClr val="404040"/>
                </a:solidFill>
                <a:latin typeface="+mn-lt"/>
                <a:cs typeface="Avenir Book"/>
              </a:rPr>
              <a:t>. 25</a:t>
            </a:r>
            <a:r>
              <a:rPr lang="en-GB" sz="1200" b="0" i="0" baseline="30000" noProof="0">
                <a:solidFill>
                  <a:srgbClr val="404040"/>
                </a:solidFill>
                <a:latin typeface="+mn-lt"/>
                <a:cs typeface="Avenir Book"/>
              </a:rPr>
              <a:t>th</a:t>
            </a:r>
            <a:r>
              <a:rPr lang="en-GB" sz="1200" b="0" i="0" noProof="0">
                <a:solidFill>
                  <a:srgbClr val="404040"/>
                </a:solidFill>
                <a:latin typeface="+mn-lt"/>
                <a:cs typeface="Avenir Book"/>
              </a:rPr>
              <a:t> 2026</a:t>
            </a:r>
            <a:endParaRPr lang="en-GB" sz="1200" b="0" i="0" noProof="0" dirty="0">
              <a:solidFill>
                <a:srgbClr val="404040"/>
              </a:solidFill>
              <a:latin typeface="+mn-lt"/>
              <a:cs typeface="Avenir Book"/>
            </a:endParaRPr>
          </a:p>
        </p:txBody>
      </p:sp>
    </p:spTree>
    <p:extLst>
      <p:ext uri="{BB962C8B-B14F-4D97-AF65-F5344CB8AC3E}">
        <p14:creationId xmlns:p14="http://schemas.microsoft.com/office/powerpoint/2010/main" val="36023165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DFA6E08-D2BF-46A8-AF03-F4D4A2A7D1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EDA231F-8CC9-49D4-93BB-8F3617344B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6AE13BF-9C26-41F2-A7A1-4C3628BA8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64E2D-9165-4460-9F8A-C8C3E8A8A2E6}" type="datetimeFigureOut">
              <a:rPr lang="en-GB" smtClean="0"/>
              <a:t>15/09/2026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D60BC55-1FD3-4E26-A400-C956E5E62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3C23276-9141-453D-89ED-E53460D60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18360-D8EA-4BE3-885B-C81008D10C7C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16579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91105AE-3F00-45A6-8F0D-227617DF6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D656824-0AEA-4689-828E-111B0355A1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65EE165-A048-48D4-8FCE-F551FF9C89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64E2D-9165-4460-9F8A-C8C3E8A8A2E6}" type="datetimeFigureOut">
              <a:rPr lang="en-GB" smtClean="0"/>
              <a:t>15/09/2026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3588630-C990-4B83-B6AE-A89CB5AC30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911CA20-583E-4119-BCAA-36C701ED8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18360-D8EA-4BE3-885B-C81008D10C7C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72999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D2B244C-42D8-47E3-8F0F-527E83F3B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AF78102-BC7F-4010-B58A-FF858F4BDE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8C9BFFEF-2A8E-46CC-A139-779413481C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47E8D48-E468-4E25-912E-577346404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64E2D-9165-4460-9F8A-C8C3E8A8A2E6}" type="datetimeFigureOut">
              <a:rPr lang="en-GB" smtClean="0"/>
              <a:t>15/09/2026</a:t>
            </a:fld>
            <a:endParaRPr lang="en-GB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857D8B1-6F3C-4EDA-AE89-87E441F4A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9F0E1BE-ABE8-46F5-81A6-E92534F37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18360-D8EA-4BE3-885B-C81008D10C7C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11365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894EA34-234E-4AF1-8707-BAC0D4325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A9809C7-1131-46C3-8FC2-3867891DD9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B837EAE8-A17D-46F9-BA57-717691E9E2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6C0598C4-15B7-459C-8861-D7B19A3669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5FAC7B28-6077-45C3-B02E-451563FB2C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2804A7B1-7C2A-489E-8F45-26418E592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64E2D-9165-4460-9F8A-C8C3E8A8A2E6}" type="datetimeFigureOut">
              <a:rPr lang="en-GB" smtClean="0"/>
              <a:t>15/09/2026</a:t>
            </a:fld>
            <a:endParaRPr lang="en-GB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09FD70D5-6B4B-4785-A95A-DC1901C7C0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702F4111-248D-439F-97E7-2842F92F2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18360-D8EA-4BE3-885B-C81008D10C7C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507286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CA3E09A-DDE1-4B5B-92AA-622C67803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0D6D32CC-A506-4569-A857-BA99056C38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64E2D-9165-4460-9F8A-C8C3E8A8A2E6}" type="datetimeFigureOut">
              <a:rPr lang="en-GB" smtClean="0"/>
              <a:t>15/09/2026</a:t>
            </a:fld>
            <a:endParaRPr lang="en-GB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BA08644C-DC66-445C-8E71-A22FABE09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DFAC9DE-C053-45D0-934A-19EDDD088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18360-D8EA-4BE3-885B-C81008D10C7C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75106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D839AB3F-5F34-47A6-B0CF-5329911114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64E2D-9165-4460-9F8A-C8C3E8A8A2E6}" type="datetimeFigureOut">
              <a:rPr lang="en-GB" smtClean="0"/>
              <a:t>15/09/2026</a:t>
            </a:fld>
            <a:endParaRPr lang="en-GB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E9603FDC-48BA-4C99-BCD9-7C3E335B0D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C677C47-33C0-4760-AA67-B05A51DC1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18360-D8EA-4BE3-885B-C81008D10C7C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45543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E987E01-AA7F-49AF-884F-A806FE174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5772A06-0E9A-4F25-9411-5F224535A1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E22A721-D95F-4A69-940C-E01B0D34D4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2080DDB-8F54-422C-9B50-7B3E6DC424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64E2D-9165-4460-9F8A-C8C3E8A8A2E6}" type="datetimeFigureOut">
              <a:rPr lang="en-GB" smtClean="0"/>
              <a:t>15/09/2026</a:t>
            </a:fld>
            <a:endParaRPr lang="en-GB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7943A45-7365-4BDB-9E9F-AD70E5E0D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EE79314-E3A5-42F2-8A5D-75E8B7585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18360-D8EA-4BE3-885B-C81008D10C7C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39594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0079578-2754-44C6-A9B5-71A827DF2D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6501B85B-F10F-4BCA-83B4-E23B399B63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49C84FE-539B-49A7-AE3D-48A0EE684E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DD5B6B6-C3EB-4BC5-92F9-893D4DA085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64E2D-9165-4460-9F8A-C8C3E8A8A2E6}" type="datetimeFigureOut">
              <a:rPr lang="en-GB" smtClean="0"/>
              <a:t>15/09/2026</a:t>
            </a:fld>
            <a:endParaRPr lang="en-GB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A9127B8-135D-4AD8-BE73-CA44A06261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07AC027-B451-4A36-9375-9D6EFF98C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18360-D8EA-4BE3-885B-C81008D10C7C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7809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56EBB0E-C184-4221-A716-0DBB3B2DD2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232A179B-456F-4220-A66C-45644CC301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31D3DD9-810D-4F0D-A51A-7BACE2ACC7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64E2D-9165-4460-9F8A-C8C3E8A8A2E6}" type="datetimeFigureOut">
              <a:rPr lang="en-GB" smtClean="0"/>
              <a:t>15/09/2026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68AD6A3-FE03-4060-8C09-B6B655E61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1B2461D-A9D1-49FB-802A-587409E0F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18360-D8EA-4BE3-885B-C81008D10C7C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9323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5149864D-725A-4E0D-9531-96D7CF4406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EBD1E537-8D62-4240-B8E7-69366A246D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65635FC-07AD-4174-8C64-4FDF1566A8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64E2D-9165-4460-9F8A-C8C3E8A8A2E6}" type="datetimeFigureOut">
              <a:rPr lang="en-GB" smtClean="0"/>
              <a:t>15/09/2026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530C1DD-890E-4ADF-AD05-6083C99A7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5785BAF-6D47-42AF-A807-D130B434A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18360-D8EA-4BE3-885B-C81008D10C7C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7251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92621BF1-0061-4107-84BB-FA77B444EB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DF4E579-E523-4EA5-A066-C4D006ADA9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A9471CD-BEFD-41D9-9A67-7EB57B4C2F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964E2D-9165-4460-9F8A-C8C3E8A8A2E6}" type="datetimeFigureOut">
              <a:rPr lang="en-GB" smtClean="0"/>
              <a:t>15/09/2026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A239D73-4E21-4B10-B111-7D649D184F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03A6413-56D7-43B3-A4FD-3B00DAA3C5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D18360-D8EA-4BE3-885B-C81008D10C7C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47558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jpe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jpe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0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1.bin"/><Relationship Id="rId5" Type="http://schemas.openxmlformats.org/officeDocument/2006/relationships/image" Target="../media/image19.jpeg"/><Relationship Id="rId4" Type="http://schemas.openxmlformats.org/officeDocument/2006/relationships/image" Target="../media/image18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jpeg"/><Relationship Id="rId3" Type="http://schemas.openxmlformats.org/officeDocument/2006/relationships/image" Target="../media/image17.png"/><Relationship Id="rId7" Type="http://schemas.openxmlformats.org/officeDocument/2006/relationships/image" Target="../media/image20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1.bin"/><Relationship Id="rId5" Type="http://schemas.openxmlformats.org/officeDocument/2006/relationships/image" Target="../media/image19.jpeg"/><Relationship Id="rId10" Type="http://schemas.openxmlformats.org/officeDocument/2006/relationships/image" Target="../media/image23.jpeg"/><Relationship Id="rId4" Type="http://schemas.openxmlformats.org/officeDocument/2006/relationships/image" Target="../media/image18.jpeg"/><Relationship Id="rId9" Type="http://schemas.openxmlformats.org/officeDocument/2006/relationships/image" Target="../media/image22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humanbrainmapping.org/Awards/" TargetMode="External"/><Relationship Id="rId13" Type="http://schemas.openxmlformats.org/officeDocument/2006/relationships/hyperlink" Target="https://sites.google.com/view/ohbmwomenpisig/home" TargetMode="External"/><Relationship Id="rId18" Type="http://schemas.openxmlformats.org/officeDocument/2006/relationships/hyperlink" Target="https://docs.google.com/forms/d/e/1FAIpQLSce0xP8sZe6FHbzjzVnHNyOwPIWXe0L99o_kLj1ye3Kbm85wA/viewform?usp=publish-editor" TargetMode="External"/><Relationship Id="rId3" Type="http://schemas.openxmlformats.org/officeDocument/2006/relationships/image" Target="../media/image24.png"/><Relationship Id="rId21" Type="http://schemas.openxmlformats.org/officeDocument/2006/relationships/hyperlink" Target="https://www.ohbm-com.com/brain-bites" TargetMode="External"/><Relationship Id="rId7" Type="http://schemas.openxmlformats.org/officeDocument/2006/relationships/hyperlink" Target="https://www.ohbm-com.com/blog/ohbm-abstract-atlas" TargetMode="External"/><Relationship Id="rId12" Type="http://schemas.openxmlformats.org/officeDocument/2006/relationships/hyperlink" Target="https://www.ohbmtrainees.com/" TargetMode="External"/><Relationship Id="rId17" Type="http://schemas.openxmlformats.org/officeDocument/2006/relationships/image" Target="../media/image27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7.png"/><Relationship Id="rId20" Type="http://schemas.openxmlformats.org/officeDocument/2006/relationships/hyperlink" Target="https://www.ohbm-com.com/blog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humanbrainmapping.org/aperture-neuro/" TargetMode="External"/><Relationship Id="rId11" Type="http://schemas.openxmlformats.org/officeDocument/2006/relationships/hyperlink" Target="https://ohbm-environment.org/" TargetMode="External"/><Relationship Id="rId24" Type="http://schemas.openxmlformats.org/officeDocument/2006/relationships/image" Target="../media/image30.png"/><Relationship Id="rId5" Type="http://schemas.openxmlformats.org/officeDocument/2006/relationships/hyperlink" Target="https://www.youtube.com/c/organizationforhumanbrainmapping" TargetMode="External"/><Relationship Id="rId15" Type="http://schemas.openxmlformats.org/officeDocument/2006/relationships/image" Target="../media/image26.png"/><Relationship Id="rId23" Type="http://schemas.openxmlformats.org/officeDocument/2006/relationships/hyperlink" Target="https://apertureneuro.org/about" TargetMode="External"/><Relationship Id="rId10" Type="http://schemas.openxmlformats.org/officeDocument/2006/relationships/hyperlink" Target="https://ossig.netlify.app/" TargetMode="External"/><Relationship Id="rId19" Type="http://schemas.openxmlformats.org/officeDocument/2006/relationships/image" Target="../media/image28.png"/><Relationship Id="rId4" Type="http://schemas.openxmlformats.org/officeDocument/2006/relationships/image" Target="../media/image25.jpeg"/><Relationship Id="rId9" Type="http://schemas.openxmlformats.org/officeDocument/2006/relationships/hyperlink" Target="https://ohbm-brainart.github.io/" TargetMode="External"/><Relationship Id="rId14" Type="http://schemas.openxmlformats.org/officeDocument/2006/relationships/hyperlink" Target="https://www.humanbrainmapping.org/i4a/pages/index.cfm?pageid=4027" TargetMode="External"/><Relationship Id="rId22" Type="http://schemas.openxmlformats.org/officeDocument/2006/relationships/image" Target="../media/image2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4.jpeg"/><Relationship Id="rId4" Type="http://schemas.openxmlformats.org/officeDocument/2006/relationships/image" Target="../media/image33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msb.u-bordeaux.fr/fr/" TargetMode="External"/><Relationship Id="rId7" Type="http://schemas.openxmlformats.org/officeDocument/2006/relationships/image" Target="../media/image38.jpe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jpeg"/><Relationship Id="rId5" Type="http://schemas.openxmlformats.org/officeDocument/2006/relationships/image" Target="../media/image36.jpeg"/><Relationship Id="rId4" Type="http://schemas.openxmlformats.org/officeDocument/2006/relationships/image" Target="../media/image35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cerf.radiologie.fr/publications/livre-blanc-r%C3%A9utilisation-donn%C3%A9es-en-recherche" TargetMode="External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project.crnl.fr/page/" TargetMode="External"/><Relationship Id="rId2" Type="http://schemas.openxmlformats.org/officeDocument/2006/relationships/hyperlink" Target="https://zenodo.org/communities/crnl-neuroimaging-club/records?q=&amp;l=list&amp;p=1&amp;s=10&amp;sort=newest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rist.numerique.gouv.fr/o/docs/" TargetMode="Externa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torwager.github.io/elements-of-fmri-tutorials/" TargetMode="Externa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7283052-3235-4C22-9C56-CFFC75868E5B}"/>
              </a:ext>
            </a:extLst>
          </p:cNvPr>
          <p:cNvSpPr/>
          <p:nvPr/>
        </p:nvSpPr>
        <p:spPr>
          <a:xfrm>
            <a:off x="1524000" y="2939729"/>
            <a:ext cx="914400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2800" b="1" dirty="0"/>
              <a:t>Welcome back to the NeuroImaging club</a:t>
            </a:r>
          </a:p>
          <a:p>
            <a:pPr algn="ctr"/>
            <a:endParaRPr lang="en-GB" sz="2800" b="1" dirty="0"/>
          </a:p>
          <a:p>
            <a:pPr algn="ctr"/>
            <a:r>
              <a:rPr lang="en-GB" sz="2800" b="1" dirty="0"/>
              <a:t>Feedbacks from OHBM2026, REMI2026, resources &amp; more!</a:t>
            </a:r>
          </a:p>
        </p:txBody>
      </p:sp>
      <p:sp>
        <p:nvSpPr>
          <p:cNvPr id="5" name="ZoneTexte 2">
            <a:extLst>
              <a:ext uri="{FF2B5EF4-FFF2-40B4-BE49-F238E27FC236}">
                <a16:creationId xmlns:a16="http://schemas.microsoft.com/office/drawing/2014/main" id="{41CD0DBC-588E-4B79-9E6C-157D65030A65}"/>
              </a:ext>
            </a:extLst>
          </p:cNvPr>
          <p:cNvSpPr txBox="1"/>
          <p:nvPr/>
        </p:nvSpPr>
        <p:spPr>
          <a:xfrm>
            <a:off x="1651316" y="6376166"/>
            <a:ext cx="1421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9pPr>
          </a:lstStyle>
          <a:p>
            <a:pPr algn="ctr"/>
            <a:r>
              <a:rPr lang="fr-FR" sz="1000" b="1">
                <a:solidFill>
                  <a:srgbClr val="134AB2"/>
                </a:solidFill>
                <a:latin typeface="+mn-lt"/>
                <a:cs typeface="Arial" panose="020B0604020202020204" pitchFamily="34" charset="0"/>
              </a:rPr>
              <a:t>INSERM UMRS 1028 – CNRS UMR 5292</a:t>
            </a:r>
          </a:p>
        </p:txBody>
      </p:sp>
      <p:pic>
        <p:nvPicPr>
          <p:cNvPr id="6" name="Image 26">
            <a:extLst>
              <a:ext uri="{FF2B5EF4-FFF2-40B4-BE49-F238E27FC236}">
                <a16:creationId xmlns:a16="http://schemas.microsoft.com/office/drawing/2014/main" id="{542483E0-C593-404E-AC4B-2D7BD42A6D9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74994"/>
          <a:stretch/>
        </p:blipFill>
        <p:spPr bwMode="auto">
          <a:xfrm>
            <a:off x="1743540" y="6099794"/>
            <a:ext cx="1236819" cy="301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B8ACB0F1-AC31-4D98-9C4F-3E2D7F4DA32D}"/>
              </a:ext>
            </a:extLst>
          </p:cNvPr>
          <p:cNvSpPr txBox="1"/>
          <p:nvPr/>
        </p:nvSpPr>
        <p:spPr>
          <a:xfrm>
            <a:off x="4562119" y="62559"/>
            <a:ext cx="3067763" cy="338554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en-GB" sz="1600" b="1" dirty="0"/>
              <a:t>NeuroImaging</a:t>
            </a:r>
            <a:r>
              <a:rPr lang="fr-FR" sz="1600" b="1" dirty="0"/>
              <a:t> club – 65</a:t>
            </a:r>
            <a:r>
              <a:rPr lang="fr-FR" sz="1600" b="1" baseline="30000" dirty="0"/>
              <a:t>th</a:t>
            </a:r>
            <a:r>
              <a:rPr lang="fr-FR" sz="1600" b="1" dirty="0"/>
              <a:t> meeting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DFED9F7-A4BB-4EE5-BF52-1CF7599547FB}"/>
              </a:ext>
            </a:extLst>
          </p:cNvPr>
          <p:cNvSpPr/>
          <p:nvPr/>
        </p:nvSpPr>
        <p:spPr>
          <a:xfrm>
            <a:off x="3263992" y="5502547"/>
            <a:ext cx="566401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/>
              <a:t>25</a:t>
            </a:r>
            <a:r>
              <a:rPr lang="en-GB" baseline="30000"/>
              <a:t>th </a:t>
            </a:r>
            <a:r>
              <a:rPr lang="en-GB" dirty="0"/>
              <a:t>Sept</a:t>
            </a:r>
            <a:r>
              <a:rPr lang="en-GB"/>
              <a:t>. 2026</a:t>
            </a:r>
            <a:endParaRPr lang="en-GB" dirty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661B5C0D-57F2-43FF-BC88-31CD30BD725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1742" y="573046"/>
            <a:ext cx="1588516" cy="1159782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E14DAA00-DBAE-4DD4-BB79-CDA3DA235C8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8436" y="5236748"/>
            <a:ext cx="1087024" cy="836123"/>
          </a:xfrm>
          <a:prstGeom prst="rect">
            <a:avLst/>
          </a:prstGeom>
        </p:spPr>
      </p:pic>
      <p:grpSp>
        <p:nvGrpSpPr>
          <p:cNvPr id="16" name="Groupe 15">
            <a:extLst>
              <a:ext uri="{FF2B5EF4-FFF2-40B4-BE49-F238E27FC236}">
                <a16:creationId xmlns:a16="http://schemas.microsoft.com/office/drawing/2014/main" id="{27DEBD82-2C46-41BA-82F8-39C5E9D7B63D}"/>
              </a:ext>
            </a:extLst>
          </p:cNvPr>
          <p:cNvGrpSpPr>
            <a:grpSpLocks noChangeAspect="1"/>
          </p:cNvGrpSpPr>
          <p:nvPr/>
        </p:nvGrpSpPr>
        <p:grpSpPr>
          <a:xfrm>
            <a:off x="3646347" y="6147026"/>
            <a:ext cx="4899306" cy="639145"/>
            <a:chOff x="3280678" y="5825472"/>
            <a:chExt cx="5723072" cy="746610"/>
          </a:xfrm>
        </p:grpSpPr>
        <p:pic>
          <p:nvPicPr>
            <p:cNvPr id="17" name="Image 16">
              <a:extLst>
                <a:ext uri="{FF2B5EF4-FFF2-40B4-BE49-F238E27FC236}">
                  <a16:creationId xmlns:a16="http://schemas.microsoft.com/office/drawing/2014/main" id="{A11959C7-7EA5-44ED-BE2B-AC5C7B18AD1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205" t="7340" r="7834" b="7282"/>
            <a:stretch/>
          </p:blipFill>
          <p:spPr>
            <a:xfrm>
              <a:off x="6237226" y="5897784"/>
              <a:ext cx="564153" cy="637618"/>
            </a:xfrm>
            <a:prstGeom prst="rect">
              <a:avLst/>
            </a:prstGeom>
          </p:spPr>
        </p:pic>
        <p:pic>
          <p:nvPicPr>
            <p:cNvPr id="18" name="Image 17">
              <a:extLst>
                <a:ext uri="{FF2B5EF4-FFF2-40B4-BE49-F238E27FC236}">
                  <a16:creationId xmlns:a16="http://schemas.microsoft.com/office/drawing/2014/main" id="{46FD0C67-E41D-4B85-B001-D7319CE11EC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90908" y="5976731"/>
              <a:ext cx="1032778" cy="352033"/>
            </a:xfrm>
            <a:prstGeom prst="rect">
              <a:avLst/>
            </a:prstGeom>
          </p:spPr>
        </p:pic>
        <p:pic>
          <p:nvPicPr>
            <p:cNvPr id="19" name="Image 18">
              <a:extLst>
                <a:ext uri="{FF2B5EF4-FFF2-40B4-BE49-F238E27FC236}">
                  <a16:creationId xmlns:a16="http://schemas.microsoft.com/office/drawing/2014/main" id="{40F95CB8-5837-45E7-BCAB-9AAA5A641ED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8089" t="10028" b="10620"/>
            <a:stretch/>
          </p:blipFill>
          <p:spPr>
            <a:xfrm>
              <a:off x="7599795" y="5825472"/>
              <a:ext cx="1403955" cy="746610"/>
            </a:xfrm>
            <a:prstGeom prst="rect">
              <a:avLst/>
            </a:prstGeom>
          </p:spPr>
        </p:pic>
        <p:pic>
          <p:nvPicPr>
            <p:cNvPr id="20" name="Image 19">
              <a:extLst>
                <a:ext uri="{FF2B5EF4-FFF2-40B4-BE49-F238E27FC236}">
                  <a16:creationId xmlns:a16="http://schemas.microsoft.com/office/drawing/2014/main" id="{A43037ED-4817-4774-9EB0-D5A7B24DE77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30884" y="5897784"/>
              <a:ext cx="646484" cy="637618"/>
            </a:xfrm>
            <a:prstGeom prst="rect">
              <a:avLst/>
            </a:prstGeom>
          </p:spPr>
        </p:pic>
        <p:pic>
          <p:nvPicPr>
            <p:cNvPr id="21" name="Image 20">
              <a:extLst>
                <a:ext uri="{FF2B5EF4-FFF2-40B4-BE49-F238E27FC236}">
                  <a16:creationId xmlns:a16="http://schemas.microsoft.com/office/drawing/2014/main" id="{9E683ED9-24F7-473E-9EBC-ED394D2E610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14919" y="5896376"/>
              <a:ext cx="371334" cy="675706"/>
            </a:xfrm>
            <a:prstGeom prst="rect">
              <a:avLst/>
            </a:prstGeom>
          </p:spPr>
        </p:pic>
        <p:pic>
          <p:nvPicPr>
            <p:cNvPr id="22" name="Image 21">
              <a:extLst>
                <a:ext uri="{FF2B5EF4-FFF2-40B4-BE49-F238E27FC236}">
                  <a16:creationId xmlns:a16="http://schemas.microsoft.com/office/drawing/2014/main" id="{7A3A3F56-D14F-4C98-98CB-485747E2731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80678" y="5897784"/>
              <a:ext cx="636666" cy="560036"/>
            </a:xfrm>
            <a:prstGeom prst="rect">
              <a:avLst/>
            </a:prstGeom>
          </p:spPr>
        </p:pic>
      </p:grpSp>
      <p:pic>
        <p:nvPicPr>
          <p:cNvPr id="23" name="Picture 2" descr="https://mirrors.creativecommons.org/presskit/buttons/88x31/png/by-nc.png">
            <a:extLst>
              <a:ext uri="{FF2B5EF4-FFF2-40B4-BE49-F238E27FC236}">
                <a16:creationId xmlns:a16="http://schemas.microsoft.com/office/drawing/2014/main" id="{AB656402-C2DA-4D84-BCCF-48971092AF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250434" y="74438"/>
            <a:ext cx="813805" cy="284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977878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029307A7-1E99-42E9-AC3E-336334CC1F3E}"/>
              </a:ext>
            </a:extLst>
          </p:cNvPr>
          <p:cNvSpPr txBox="1"/>
          <p:nvPr/>
        </p:nvSpPr>
        <p:spPr>
          <a:xfrm>
            <a:off x="1903445" y="131742"/>
            <a:ext cx="8864081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fr-FR" sz="2800" b="1">
                <a:solidFill>
                  <a:schemeClr val="bg1"/>
                </a:solidFill>
              </a:rPr>
              <a:t>Round-table discussion</a:t>
            </a:r>
            <a:endParaRPr lang="fr-FR" sz="2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49881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5540216A-B2F4-46AE-8205-2F25F81AA58C}"/>
              </a:ext>
            </a:extLst>
          </p:cNvPr>
          <p:cNvSpPr txBox="1"/>
          <p:nvPr/>
        </p:nvSpPr>
        <p:spPr>
          <a:xfrm>
            <a:off x="2500009" y="131742"/>
            <a:ext cx="5038927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800" b="1">
                <a:solidFill>
                  <a:schemeClr val="bg1"/>
                </a:solidFill>
              </a:rPr>
              <a:t>Feedback from  </a:t>
            </a:r>
            <a:endParaRPr lang="fr-FR" sz="2800" b="1" dirty="0">
              <a:solidFill>
                <a:schemeClr val="bg1"/>
              </a:solidFill>
            </a:endParaRPr>
          </a:p>
        </p:txBody>
      </p:sp>
      <p:pic>
        <p:nvPicPr>
          <p:cNvPr id="10" name="Google Shape;56;p13">
            <a:extLst>
              <a:ext uri="{FF2B5EF4-FFF2-40B4-BE49-F238E27FC236}">
                <a16:creationId xmlns:a16="http://schemas.microsoft.com/office/drawing/2014/main" id="{71CB4DD5-6EA6-4581-A6E3-AC751102581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71292" t="895" r="-1" b="-1"/>
          <a:stretch/>
        </p:blipFill>
        <p:spPr>
          <a:xfrm>
            <a:off x="6124928" y="141470"/>
            <a:ext cx="2625098" cy="4811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Image 18">
            <a:extLst>
              <a:ext uri="{FF2B5EF4-FFF2-40B4-BE49-F238E27FC236}">
                <a16:creationId xmlns:a16="http://schemas.microsoft.com/office/drawing/2014/main" id="{E2F583B6-EAF1-497F-90D2-7A0CE0106AF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138" y="1031131"/>
            <a:ext cx="5767876" cy="4951379"/>
          </a:xfrm>
          <a:prstGeom prst="rect">
            <a:avLst/>
          </a:prstGeom>
        </p:spPr>
      </p:pic>
      <p:pic>
        <p:nvPicPr>
          <p:cNvPr id="22" name="Image 21">
            <a:extLst>
              <a:ext uri="{FF2B5EF4-FFF2-40B4-BE49-F238E27FC236}">
                <a16:creationId xmlns:a16="http://schemas.microsoft.com/office/drawing/2014/main" id="{7A385406-63E4-4A0D-BE22-C355FFA8D3DA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7"/>
          <a:stretch/>
        </p:blipFill>
        <p:spPr>
          <a:xfrm>
            <a:off x="6096000" y="1031131"/>
            <a:ext cx="5936862" cy="2757085"/>
          </a:xfrm>
          <a:prstGeom prst="rect">
            <a:avLst/>
          </a:prstGeom>
        </p:spPr>
      </p:pic>
      <p:graphicFrame>
        <p:nvGraphicFramePr>
          <p:cNvPr id="23" name="Objet 22">
            <a:extLst>
              <a:ext uri="{FF2B5EF4-FFF2-40B4-BE49-F238E27FC236}">
                <a16:creationId xmlns:a16="http://schemas.microsoft.com/office/drawing/2014/main" id="{60C40769-A585-4972-925C-34BA73FCFB9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015413" y="2784475"/>
          <a:ext cx="962025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Objet d’environnement du Gestionnaire de liaisons" showAsIcon="1" r:id="rId6" imgW="961920" imgH="514350" progId="Package">
                  <p:embed/>
                </p:oleObj>
              </mc:Choice>
              <mc:Fallback>
                <p:oleObj name="Objet d’environnement du Gestionnaire de liaisons" showAsIcon="1" r:id="rId6" imgW="961920" imgH="514350" progId="Package">
                  <p:embed/>
                  <p:pic>
                    <p:nvPicPr>
                      <p:cNvPr id="23" name="Objet 22">
                        <a:extLst>
                          <a:ext uri="{FF2B5EF4-FFF2-40B4-BE49-F238E27FC236}">
                            <a16:creationId xmlns:a16="http://schemas.microsoft.com/office/drawing/2014/main" id="{60C40769-A585-4972-925C-34BA73FCFB9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015413" y="2784475"/>
                        <a:ext cx="962025" cy="514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004531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5540216A-B2F4-46AE-8205-2F25F81AA58C}"/>
              </a:ext>
            </a:extLst>
          </p:cNvPr>
          <p:cNvSpPr txBox="1"/>
          <p:nvPr/>
        </p:nvSpPr>
        <p:spPr>
          <a:xfrm>
            <a:off x="2500009" y="131742"/>
            <a:ext cx="5038927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800" b="1">
                <a:solidFill>
                  <a:schemeClr val="bg1"/>
                </a:solidFill>
              </a:rPr>
              <a:t>Feedback from  </a:t>
            </a:r>
            <a:endParaRPr lang="fr-FR" sz="2800" b="1" dirty="0">
              <a:solidFill>
                <a:schemeClr val="bg1"/>
              </a:solidFill>
            </a:endParaRPr>
          </a:p>
        </p:txBody>
      </p:sp>
      <p:pic>
        <p:nvPicPr>
          <p:cNvPr id="10" name="Google Shape;56;p13">
            <a:extLst>
              <a:ext uri="{FF2B5EF4-FFF2-40B4-BE49-F238E27FC236}">
                <a16:creationId xmlns:a16="http://schemas.microsoft.com/office/drawing/2014/main" id="{71CB4DD5-6EA6-4581-A6E3-AC751102581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71292" t="895" r="-1" b="-1"/>
          <a:stretch/>
        </p:blipFill>
        <p:spPr>
          <a:xfrm>
            <a:off x="6124928" y="141470"/>
            <a:ext cx="2625098" cy="4811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Image 18">
            <a:extLst>
              <a:ext uri="{FF2B5EF4-FFF2-40B4-BE49-F238E27FC236}">
                <a16:creationId xmlns:a16="http://schemas.microsoft.com/office/drawing/2014/main" id="{E2F583B6-EAF1-497F-90D2-7A0CE0106AF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8108" y="1167318"/>
            <a:ext cx="5767876" cy="4951379"/>
          </a:xfrm>
          <a:prstGeom prst="rect">
            <a:avLst/>
          </a:prstGeom>
        </p:spPr>
      </p:pic>
      <p:pic>
        <p:nvPicPr>
          <p:cNvPr id="22" name="Image 21">
            <a:extLst>
              <a:ext uri="{FF2B5EF4-FFF2-40B4-BE49-F238E27FC236}">
                <a16:creationId xmlns:a16="http://schemas.microsoft.com/office/drawing/2014/main" id="{7A385406-63E4-4A0D-BE22-C355FFA8D3DA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016" y="3572933"/>
            <a:ext cx="5967716" cy="2757085"/>
          </a:xfrm>
          <a:prstGeom prst="rect">
            <a:avLst/>
          </a:prstGeom>
        </p:spPr>
      </p:pic>
      <p:graphicFrame>
        <p:nvGraphicFramePr>
          <p:cNvPr id="23" name="Objet 22">
            <a:extLst>
              <a:ext uri="{FF2B5EF4-FFF2-40B4-BE49-F238E27FC236}">
                <a16:creationId xmlns:a16="http://schemas.microsoft.com/office/drawing/2014/main" id="{60C40769-A585-4972-925C-34BA73FCFB9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28788810"/>
              </p:ext>
            </p:extLst>
          </p:nvPr>
        </p:nvGraphicFramePr>
        <p:xfrm>
          <a:off x="9015413" y="2784475"/>
          <a:ext cx="962025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Objet d’environnement du Gestionnaire de liaisons" showAsIcon="1" r:id="rId6" imgW="961920" imgH="514350" progId="Package">
                  <p:embed/>
                </p:oleObj>
              </mc:Choice>
              <mc:Fallback>
                <p:oleObj name="Objet d’environnement du Gestionnaire de liaisons" showAsIcon="1" r:id="rId6" imgW="961920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015413" y="2784475"/>
                        <a:ext cx="962025" cy="514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8" name="Image 27">
            <a:extLst>
              <a:ext uri="{FF2B5EF4-FFF2-40B4-BE49-F238E27FC236}">
                <a16:creationId xmlns:a16="http://schemas.microsoft.com/office/drawing/2014/main" id="{BA5640DE-ECB2-435D-999E-6BAEA2F62136}"/>
              </a:ext>
            </a:extLst>
          </p:cNvPr>
          <p:cNvPicPr>
            <a:picLocks noChangeAspect="1"/>
          </p:cNvPicPr>
          <p:nvPr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2648"/>
            <a:ext cx="6067073" cy="2802988"/>
          </a:xfrm>
          <a:prstGeom prst="rect">
            <a:avLst/>
          </a:prstGeom>
        </p:spPr>
      </p:pic>
      <p:pic>
        <p:nvPicPr>
          <p:cNvPr id="30" name="Image 29">
            <a:extLst>
              <a:ext uri="{FF2B5EF4-FFF2-40B4-BE49-F238E27FC236}">
                <a16:creationId xmlns:a16="http://schemas.microsoft.com/office/drawing/2014/main" id="{DE0EA2AC-5F76-4A64-ACDE-CA16F149F0B7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674" b="31111"/>
          <a:stretch/>
        </p:blipFill>
        <p:spPr>
          <a:xfrm>
            <a:off x="3139874" y="-2123680"/>
            <a:ext cx="8167991" cy="4724400"/>
          </a:xfrm>
          <a:prstGeom prst="rect">
            <a:avLst/>
          </a:prstGeom>
        </p:spPr>
      </p:pic>
      <p:pic>
        <p:nvPicPr>
          <p:cNvPr id="34" name="Image 33">
            <a:extLst>
              <a:ext uri="{FF2B5EF4-FFF2-40B4-BE49-F238E27FC236}">
                <a16:creationId xmlns:a16="http://schemas.microsoft.com/office/drawing/2014/main" id="{E04F3E42-D7F0-49F1-B189-34EAA62A8C2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65050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 14">
            <a:extLst>
              <a:ext uri="{FF2B5EF4-FFF2-40B4-BE49-F238E27FC236}">
                <a16:creationId xmlns:a16="http://schemas.microsoft.com/office/drawing/2014/main" id="{26BCC769-B42C-4FE4-AAC5-293B0E30E5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4344" y="4469866"/>
            <a:ext cx="1149917" cy="106778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7D433E2-E43A-402A-8C20-55F53CD92AD6}"/>
              </a:ext>
            </a:extLst>
          </p:cNvPr>
          <p:cNvSpPr/>
          <p:nvPr/>
        </p:nvSpPr>
        <p:spPr>
          <a:xfrm>
            <a:off x="155186" y="6056902"/>
            <a:ext cx="374391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b="1" i="0">
                <a:solidFill>
                  <a:srgbClr val="000000"/>
                </a:solidFill>
                <a:effectLst/>
              </a:rPr>
              <a:t>Thomas Nichols, </a:t>
            </a:r>
            <a:r>
              <a:rPr lang="en-US" sz="1600">
                <a:solidFill>
                  <a:srgbClr val="000000"/>
                </a:solidFill>
              </a:rPr>
              <a:t>N</a:t>
            </a:r>
            <a:r>
              <a:rPr lang="en-US" sz="1600" i="0">
                <a:solidFill>
                  <a:srgbClr val="000000"/>
                </a:solidFill>
                <a:effectLst/>
              </a:rPr>
              <a:t>ew OHBM Council Chair</a:t>
            </a:r>
            <a:endParaRPr lang="en-GB" sz="1600"/>
          </a:p>
        </p:txBody>
      </p:sp>
      <p:pic>
        <p:nvPicPr>
          <p:cNvPr id="1026" name="Picture 2" descr="https://dim.mcusercontent.com/cs/5ac217a86eded8a13142aaa81/images/75a1d070-6aad-6763-3db4-53fe0fff02eb.jpg?dpr=2&amp;rect=0%2C92%2C912%2C912&amp;w=282&amp;h=282">
            <a:extLst>
              <a:ext uri="{FF2B5EF4-FFF2-40B4-BE49-F238E27FC236}">
                <a16:creationId xmlns:a16="http://schemas.microsoft.com/office/drawing/2014/main" id="{804D91DA-3FA1-4AD7-918D-5E0BF68C83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706" y="5066492"/>
            <a:ext cx="990410" cy="9904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5540216A-B2F4-46AE-8205-2F25F81AA58C}"/>
              </a:ext>
            </a:extLst>
          </p:cNvPr>
          <p:cNvSpPr txBox="1"/>
          <p:nvPr/>
        </p:nvSpPr>
        <p:spPr>
          <a:xfrm>
            <a:off x="2500009" y="131742"/>
            <a:ext cx="5038927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800" b="1">
                <a:solidFill>
                  <a:schemeClr val="bg1"/>
                </a:solidFill>
              </a:rPr>
              <a:t>Feedback from  </a:t>
            </a:r>
            <a:endParaRPr lang="fr-FR" sz="2800" b="1" dirty="0">
              <a:solidFill>
                <a:schemeClr val="bg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F9063DA-B2B8-406A-853C-8D6FD70C54B1}"/>
              </a:ext>
            </a:extLst>
          </p:cNvPr>
          <p:cNvSpPr/>
          <p:nvPr/>
        </p:nvSpPr>
        <p:spPr>
          <a:xfrm>
            <a:off x="2017265" y="5021778"/>
            <a:ext cx="4107663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000000"/>
                </a:solidFill>
              </a:rPr>
              <a:t>OHBM 2027 Toronto, Canada</a:t>
            </a:r>
          </a:p>
          <a:p>
            <a:r>
              <a:rPr lang="en-US" b="1">
                <a:solidFill>
                  <a:srgbClr val="000000"/>
                </a:solidFill>
              </a:rPr>
              <a:t>OHBM 2028 Yokohama, Japan</a:t>
            </a:r>
          </a:p>
          <a:p>
            <a:r>
              <a:rPr lang="en-US" b="1">
                <a:solidFill>
                  <a:srgbClr val="000000"/>
                </a:solidFill>
              </a:rPr>
              <a:t>OHBM 2029 Rotterdam, The Netherlands</a:t>
            </a:r>
            <a:endParaRPr lang="en-US" b="1" i="0">
              <a:solidFill>
                <a:srgbClr val="000000"/>
              </a:solidFill>
              <a:effectLst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03D01C1-B3D0-4D90-932D-1F9E9CB65F9E}"/>
              </a:ext>
            </a:extLst>
          </p:cNvPr>
          <p:cNvSpPr/>
          <p:nvPr/>
        </p:nvSpPr>
        <p:spPr>
          <a:xfrm>
            <a:off x="2577375" y="902427"/>
            <a:ext cx="3239766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u="sng">
                <a:solidFill>
                  <a:srgbClr val="1F4868"/>
                </a:solidFill>
                <a:hlinkClick r:id="rId5"/>
              </a:rPr>
              <a:t>OHBM YouTube channel</a:t>
            </a:r>
            <a:endParaRPr lang="en-US" b="1" u="sng">
              <a:solidFill>
                <a:srgbClr val="1F4868"/>
              </a:solidFill>
            </a:endParaRPr>
          </a:p>
          <a:p>
            <a:r>
              <a:rPr lang="en-US" b="1">
                <a:solidFill>
                  <a:srgbClr val="1F4868"/>
                </a:solidFill>
              </a:rPr>
              <a:t>2026 v</a:t>
            </a:r>
            <a:r>
              <a:rPr lang="en-US" b="1">
                <a:solidFill>
                  <a:srgbClr val="000000"/>
                </a:solidFill>
              </a:rPr>
              <a:t>ideos soming soon</a:t>
            </a:r>
          </a:p>
          <a:p>
            <a:endParaRPr lang="en-US" sz="1200" b="1">
              <a:solidFill>
                <a:srgbClr val="000000"/>
              </a:solidFill>
            </a:endParaRPr>
          </a:p>
          <a:p>
            <a:r>
              <a:rPr lang="en-US" b="1">
                <a:solidFill>
                  <a:srgbClr val="000000"/>
                </a:solidFill>
                <a:hlinkClick r:id="rId6"/>
              </a:rPr>
              <a:t>OHBM Abtract book</a:t>
            </a:r>
            <a:r>
              <a:rPr lang="en-US" b="1">
                <a:solidFill>
                  <a:srgbClr val="000000"/>
                </a:solidFill>
              </a:rPr>
              <a:t> &amp; </a:t>
            </a:r>
            <a:r>
              <a:rPr lang="fr-FR" b="1" u="sng">
                <a:hlinkClick r:id="rId7"/>
              </a:rPr>
              <a:t>Atlas</a:t>
            </a:r>
            <a:endParaRPr lang="fr-FR" b="1" u="sng"/>
          </a:p>
          <a:p>
            <a:endParaRPr lang="fr-FR" b="1" u="sng">
              <a:solidFill>
                <a:srgbClr val="000000"/>
              </a:solidFill>
            </a:endParaRPr>
          </a:p>
          <a:p>
            <a:r>
              <a:rPr lang="en-GB">
                <a:hlinkClick r:id="rId8"/>
              </a:rPr>
              <a:t>OHBM awards</a:t>
            </a:r>
            <a:r>
              <a:rPr lang="en-GB"/>
              <a:t> (10)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66DF74F-59A6-4801-9238-5D0CC699C719}"/>
              </a:ext>
            </a:extLst>
          </p:cNvPr>
          <p:cNvSpPr/>
          <p:nvPr/>
        </p:nvSpPr>
        <p:spPr>
          <a:xfrm>
            <a:off x="7216476" y="826031"/>
            <a:ext cx="28796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b="1" u="sng"/>
              <a:t>Special Interest Groups - SIG</a:t>
            </a:r>
            <a:endParaRPr lang="fr-FR" b="1" i="0">
              <a:effectLst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38D6989-9E90-49EE-942B-382853F0F87E}"/>
              </a:ext>
            </a:extLst>
          </p:cNvPr>
          <p:cNvSpPr/>
          <p:nvPr/>
        </p:nvSpPr>
        <p:spPr>
          <a:xfrm>
            <a:off x="6257747" y="1188128"/>
            <a:ext cx="467277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>
                <a:solidFill>
                  <a:srgbClr val="1F1F1F"/>
                </a:solidFill>
              </a:rPr>
              <a:t>1. </a:t>
            </a:r>
            <a:r>
              <a:rPr lang="en-US">
                <a:solidFill>
                  <a:srgbClr val="1F1F1F"/>
                </a:solidFill>
                <a:hlinkClick r:id="rId9"/>
              </a:rPr>
              <a:t>Brain Art SIG</a:t>
            </a:r>
            <a:br>
              <a:rPr lang="en-US"/>
            </a:br>
            <a:r>
              <a:rPr lang="en-US">
                <a:solidFill>
                  <a:srgbClr val="1F1F1F"/>
                </a:solidFill>
              </a:rPr>
              <a:t>2. </a:t>
            </a:r>
            <a:r>
              <a:rPr lang="en-US">
                <a:solidFill>
                  <a:srgbClr val="1F1F1F"/>
                </a:solidFill>
                <a:hlinkClick r:id="rId10"/>
              </a:rPr>
              <a:t>Open Science SIG</a:t>
            </a:r>
            <a:r>
              <a:rPr lang="en-US">
                <a:solidFill>
                  <a:srgbClr val="1F1F1F"/>
                </a:solidFill>
              </a:rPr>
              <a:t> - OSSIG</a:t>
            </a:r>
            <a:br>
              <a:rPr lang="en-US"/>
            </a:br>
            <a:r>
              <a:rPr lang="en-US">
                <a:solidFill>
                  <a:srgbClr val="1F1F1F"/>
                </a:solidFill>
              </a:rPr>
              <a:t>3. </a:t>
            </a:r>
            <a:r>
              <a:rPr lang="en-US">
                <a:solidFill>
                  <a:srgbClr val="1F1F1F"/>
                </a:solidFill>
                <a:hlinkClick r:id="rId11"/>
              </a:rPr>
              <a:t>Sustainability and Environment Action SIG</a:t>
            </a:r>
            <a:br>
              <a:rPr lang="en-US"/>
            </a:br>
            <a:r>
              <a:rPr lang="en-US">
                <a:solidFill>
                  <a:srgbClr val="1F1F1F"/>
                </a:solidFill>
              </a:rPr>
              <a:t>4. </a:t>
            </a:r>
            <a:r>
              <a:rPr lang="en-US">
                <a:solidFill>
                  <a:srgbClr val="1F1F1F"/>
                </a:solidFill>
                <a:hlinkClick r:id="rId12"/>
              </a:rPr>
              <a:t>Students and Post-Doc SIG</a:t>
            </a:r>
            <a:br>
              <a:rPr lang="en-US"/>
            </a:br>
            <a:r>
              <a:rPr lang="en-US">
                <a:solidFill>
                  <a:srgbClr val="1F1F1F"/>
                </a:solidFill>
              </a:rPr>
              <a:t>5. </a:t>
            </a:r>
            <a:r>
              <a:rPr lang="en-US">
                <a:solidFill>
                  <a:srgbClr val="1F1F1F"/>
                </a:solidFill>
                <a:hlinkClick r:id="rId13"/>
              </a:rPr>
              <a:t>Women Faculty SIG</a:t>
            </a:r>
            <a:endParaRPr lang="en-US">
              <a:solidFill>
                <a:srgbClr val="1F1F1F"/>
              </a:solidFill>
            </a:endParaRPr>
          </a:p>
          <a:p>
            <a:r>
              <a:rPr lang="en-US">
                <a:solidFill>
                  <a:srgbClr val="1F1F1F"/>
                </a:solidFill>
              </a:rPr>
              <a:t>OHBM BrainHack (part of OSSIG)</a:t>
            </a:r>
          </a:p>
          <a:p>
            <a:r>
              <a:rPr lang="en-US" i="0">
                <a:solidFill>
                  <a:srgbClr val="1F1F1F"/>
                </a:solidFill>
                <a:effectLst/>
                <a:hlinkClick r:id="rId14"/>
              </a:rPr>
              <a:t>Best practices committee</a:t>
            </a:r>
            <a:endParaRPr lang="en-US" i="0">
              <a:solidFill>
                <a:srgbClr val="1F1F1F"/>
              </a:solidFill>
              <a:effectLst/>
            </a:endParaRPr>
          </a:p>
        </p:txBody>
      </p:sp>
      <p:pic>
        <p:nvPicPr>
          <p:cNvPr id="9" name="Google Shape;57;p13">
            <a:extLst>
              <a:ext uri="{FF2B5EF4-FFF2-40B4-BE49-F238E27FC236}">
                <a16:creationId xmlns:a16="http://schemas.microsoft.com/office/drawing/2014/main" id="{B6FB1369-6E91-40F4-8D95-4F7485E63A83}"/>
              </a:ext>
            </a:extLst>
          </p:cNvPr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155187" y="911583"/>
            <a:ext cx="2490736" cy="16234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56;p13">
            <a:extLst>
              <a:ext uri="{FF2B5EF4-FFF2-40B4-BE49-F238E27FC236}">
                <a16:creationId xmlns:a16="http://schemas.microsoft.com/office/drawing/2014/main" id="{71CB4DD5-6EA6-4581-A6E3-AC7511025819}"/>
              </a:ext>
            </a:extLst>
          </p:cNvPr>
          <p:cNvPicPr preferRelativeResize="0"/>
          <p:nvPr/>
        </p:nvPicPr>
        <p:blipFill rotWithShape="1">
          <a:blip r:embed="rId16">
            <a:alphaModFix/>
          </a:blip>
          <a:srcRect l="71292" t="895" r="-1" b="-1"/>
          <a:stretch/>
        </p:blipFill>
        <p:spPr>
          <a:xfrm>
            <a:off x="6124928" y="141470"/>
            <a:ext cx="2625098" cy="4811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59;p13">
            <a:extLst>
              <a:ext uri="{FF2B5EF4-FFF2-40B4-BE49-F238E27FC236}">
                <a16:creationId xmlns:a16="http://schemas.microsoft.com/office/drawing/2014/main" id="{7B21F389-B308-47B9-8AC8-61CBCFDF58AA}"/>
              </a:ext>
            </a:extLst>
          </p:cNvPr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10733639" y="1006513"/>
            <a:ext cx="1303174" cy="1321432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754AC9A7-A85F-4255-9990-1C066120A52D}"/>
              </a:ext>
            </a:extLst>
          </p:cNvPr>
          <p:cNvSpPr/>
          <p:nvPr/>
        </p:nvSpPr>
        <p:spPr>
          <a:xfrm>
            <a:off x="6257747" y="5483443"/>
            <a:ext cx="593425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>
                <a:solidFill>
                  <a:srgbClr val="000000"/>
                </a:solidFill>
              </a:rPr>
              <a:t>The OHBM Communications Committee’s </a:t>
            </a:r>
            <a:r>
              <a:rPr lang="en-US">
                <a:solidFill>
                  <a:srgbClr val="000000"/>
                </a:solidFill>
              </a:rPr>
              <a:t>is looking for new members – students, post-docs, faculty- for 2026-2027:</a:t>
            </a:r>
          </a:p>
          <a:p>
            <a:r>
              <a:rPr lang="en-US">
                <a:solidFill>
                  <a:srgbClr val="000000"/>
                </a:solidFill>
              </a:rPr>
              <a:t>Click </a:t>
            </a:r>
            <a:r>
              <a:rPr lang="en-US" u="sng">
                <a:solidFill>
                  <a:srgbClr val="1F4868"/>
                </a:solidFill>
                <a:hlinkClick r:id="rId18"/>
              </a:rPr>
              <a:t>here</a:t>
            </a:r>
            <a:r>
              <a:rPr lang="en-US">
                <a:solidFill>
                  <a:srgbClr val="000000"/>
                </a:solidFill>
              </a:rPr>
              <a:t> to apply. Nominations close September 29, 2026.</a:t>
            </a:r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9893ABE8-9DE1-432F-AED4-AB56B629127D}"/>
              </a:ext>
            </a:extLst>
          </p:cNvPr>
          <p:cNvPicPr>
            <a:picLocks noChangeAspect="1"/>
          </p:cNvPicPr>
          <p:nvPr/>
        </p:nvPicPr>
        <p:blipFill>
          <a:blip r:embed="rId1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096000" y="3402165"/>
            <a:ext cx="1125449" cy="1094615"/>
          </a:xfrm>
          <a:prstGeom prst="rect">
            <a:avLst/>
          </a:prstGeom>
        </p:spPr>
      </p:pic>
      <p:sp>
        <p:nvSpPr>
          <p:cNvPr id="14" name="ZoneTexte 13">
            <a:extLst>
              <a:ext uri="{FF2B5EF4-FFF2-40B4-BE49-F238E27FC236}">
                <a16:creationId xmlns:a16="http://schemas.microsoft.com/office/drawing/2014/main" id="{C6E7FFA3-58C3-4B8B-9959-A7EE92B80530}"/>
              </a:ext>
            </a:extLst>
          </p:cNvPr>
          <p:cNvSpPr txBox="1"/>
          <p:nvPr/>
        </p:nvSpPr>
        <p:spPr>
          <a:xfrm>
            <a:off x="7141235" y="3417546"/>
            <a:ext cx="22945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>
                <a:solidFill>
                  <a:srgbClr val="4B283C"/>
                </a:solidFill>
                <a:hlinkClick r:id="rId20"/>
              </a:rPr>
              <a:t>Interviews of well-known neuroscientists</a:t>
            </a:r>
            <a:endParaRPr lang="en-GB">
              <a:solidFill>
                <a:srgbClr val="4B283C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9AC915C-F00E-436D-9021-9ABC8EB24E2A}"/>
              </a:ext>
            </a:extLst>
          </p:cNvPr>
          <p:cNvSpPr/>
          <p:nvPr/>
        </p:nvSpPr>
        <p:spPr>
          <a:xfrm>
            <a:off x="7109274" y="4412901"/>
            <a:ext cx="247247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>
                <a:solidFill>
                  <a:srgbClr val="314F36"/>
                </a:solidFill>
                <a:hlinkClick r:id="rId2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Brain Bites </a:t>
            </a:r>
            <a:r>
              <a:rPr lang="en-US">
                <a:solidFill>
                  <a:srgbClr val="314F36"/>
                </a:solidFill>
              </a:rPr>
              <a:t>are written for a non-specialist audience.</a:t>
            </a:r>
            <a:endParaRPr lang="en-GB">
              <a:solidFill>
                <a:srgbClr val="314F36"/>
              </a:solidFill>
            </a:endParaRPr>
          </a:p>
        </p:txBody>
      </p:sp>
      <p:pic>
        <p:nvPicPr>
          <p:cNvPr id="17" name="Image 16">
            <a:extLst>
              <a:ext uri="{FF2B5EF4-FFF2-40B4-BE49-F238E27FC236}">
                <a16:creationId xmlns:a16="http://schemas.microsoft.com/office/drawing/2014/main" id="{BFC1AD84-FEB5-4449-A6F7-0D884F771C0F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55186" y="2662173"/>
            <a:ext cx="2490737" cy="868122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CD7FF1B3-0C01-4FF9-8F07-CA88DB1B801B}"/>
              </a:ext>
            </a:extLst>
          </p:cNvPr>
          <p:cNvSpPr/>
          <p:nvPr/>
        </p:nvSpPr>
        <p:spPr>
          <a:xfrm>
            <a:off x="155186" y="3508751"/>
            <a:ext cx="596974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/>
              <a:t>The </a:t>
            </a:r>
            <a:r>
              <a:rPr lang="en-US">
                <a:hlinkClick r:id="rId23"/>
              </a:rPr>
              <a:t>official open access journal of OHBM</a:t>
            </a:r>
            <a:r>
              <a:rPr lang="en-US"/>
              <a:t> for methodological, educational, and community-driven contributions, including non-traditional research outputs such as </a:t>
            </a:r>
            <a:r>
              <a:rPr lang="en-US" b="1"/>
              <a:t>code, dataset &amp; protocol descriptions, tutorials, and replication studies.</a:t>
            </a:r>
            <a:endParaRPr lang="en-GB"/>
          </a:p>
        </p:txBody>
      </p:sp>
      <p:pic>
        <p:nvPicPr>
          <p:cNvPr id="20" name="Image 19">
            <a:extLst>
              <a:ext uri="{FF2B5EF4-FFF2-40B4-BE49-F238E27FC236}">
                <a16:creationId xmlns:a16="http://schemas.microsoft.com/office/drawing/2014/main" id="{93176597-1389-4614-9B2A-4543AA5509FA}"/>
              </a:ext>
            </a:extLst>
          </p:cNvPr>
          <p:cNvPicPr>
            <a:picLocks noChangeAspect="1"/>
          </p:cNvPicPr>
          <p:nvPr/>
        </p:nvPicPr>
        <p:blipFill>
          <a:blip r:embed="rId2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575005" y="3799696"/>
            <a:ext cx="1117553" cy="1104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968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5" grpId="0"/>
      <p:bldP spid="6" grpId="0"/>
      <p:bldP spid="7" grpId="0"/>
      <p:bldP spid="8" grpId="0"/>
      <p:bldP spid="14" grpId="0"/>
      <p:bldP spid="16" grpId="0"/>
      <p:bldP spid="1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6C199F8E-341E-46A7-B110-AD3C7656A290}"/>
              </a:ext>
            </a:extLst>
          </p:cNvPr>
          <p:cNvSpPr txBox="1"/>
          <p:nvPr/>
        </p:nvSpPr>
        <p:spPr>
          <a:xfrm>
            <a:off x="1903445" y="131742"/>
            <a:ext cx="8864081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800" b="1">
                <a:solidFill>
                  <a:schemeClr val="bg1"/>
                </a:solidFill>
              </a:rPr>
              <a:t>Reflections on REMI's network 10th anniversary</a:t>
            </a:r>
            <a:endParaRPr lang="fr-FR" sz="2800" b="1" dirty="0">
              <a:solidFill>
                <a:schemeClr val="bg1"/>
              </a:solidFill>
            </a:endParaRPr>
          </a:p>
        </p:txBody>
      </p:sp>
      <p:pic>
        <p:nvPicPr>
          <p:cNvPr id="2050" name="Picture 2" descr="Accueil">
            <a:extLst>
              <a:ext uri="{FF2B5EF4-FFF2-40B4-BE49-F238E27FC236}">
                <a16:creationId xmlns:a16="http://schemas.microsoft.com/office/drawing/2014/main" id="{22B68FE7-0173-4151-8E57-697028E36D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3500" y="789967"/>
            <a:ext cx="1905000" cy="647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796FE723-D890-4132-8D37-610B04D4CCA4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9249" y="1608762"/>
            <a:ext cx="3473501" cy="3284876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DFE48967-BDAA-44EA-959F-A3DE6CFDECD2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8500" y="4150435"/>
            <a:ext cx="4183218" cy="2094721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2D6B65BC-78CA-470F-B56B-0725BF24D3A7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8705" y="1335966"/>
            <a:ext cx="3908267" cy="2931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83564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6C199F8E-341E-46A7-B110-AD3C7656A290}"/>
              </a:ext>
            </a:extLst>
          </p:cNvPr>
          <p:cNvSpPr txBox="1"/>
          <p:nvPr/>
        </p:nvSpPr>
        <p:spPr>
          <a:xfrm>
            <a:off x="1903445" y="131742"/>
            <a:ext cx="8864081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800" b="1">
                <a:solidFill>
                  <a:schemeClr val="bg1"/>
                </a:solidFill>
              </a:rPr>
              <a:t>Reflections on REMI's network 10th anniversary</a:t>
            </a:r>
            <a:endParaRPr lang="fr-FR" sz="2800" b="1" dirty="0">
              <a:solidFill>
                <a:schemeClr val="bg1"/>
              </a:solidFill>
            </a:endParaRPr>
          </a:p>
        </p:txBody>
      </p:sp>
      <p:pic>
        <p:nvPicPr>
          <p:cNvPr id="2050" name="Picture 2" descr="Accueil">
            <a:extLst>
              <a:ext uri="{FF2B5EF4-FFF2-40B4-BE49-F238E27FC236}">
                <a16:creationId xmlns:a16="http://schemas.microsoft.com/office/drawing/2014/main" id="{22B68FE7-0173-4151-8E57-697028E36D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3500" y="789967"/>
            <a:ext cx="1905000" cy="647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751A474-AFBB-4AAC-96A6-F92EE0AA38C4}"/>
              </a:ext>
            </a:extLst>
          </p:cNvPr>
          <p:cNvSpPr/>
          <p:nvPr/>
        </p:nvSpPr>
        <p:spPr>
          <a:xfrm>
            <a:off x="501335" y="1572672"/>
            <a:ext cx="116910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b="1">
                <a:latin typeface="Calibri-Bold"/>
              </a:rPr>
              <a:t>Low field MRI scanner (50 mT) by the </a:t>
            </a:r>
            <a:r>
              <a:rPr lang="fr-FR" b="1">
                <a:latin typeface="Calibri-Bold"/>
              </a:rPr>
              <a:t>Centre de Résonance Magnétique des Systèmes Biologiques – </a:t>
            </a:r>
            <a:r>
              <a:rPr lang="fr-FR" b="1">
                <a:latin typeface="Calibri-Bold"/>
                <a:hlinkClick r:id="rId3"/>
              </a:rPr>
              <a:t>CRMSB</a:t>
            </a:r>
            <a:r>
              <a:rPr lang="fr-FR" b="1">
                <a:latin typeface="Calibri-Bold"/>
              </a:rPr>
              <a:t> – (Bordeaux)</a:t>
            </a:r>
            <a:endParaRPr lang="en-GB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07CB3725-6932-482A-B679-E70BE014022E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4265" y="2067063"/>
            <a:ext cx="3816322" cy="4202349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363E123E-391A-4CE4-AF71-779BC1D8F2AB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29" t="4255" r="4219" b="29929"/>
          <a:stretch/>
        </p:blipFill>
        <p:spPr>
          <a:xfrm>
            <a:off x="128093" y="2067063"/>
            <a:ext cx="5465311" cy="2548647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3A37125B-B9CA-48AB-8A05-999DB9ADDFCD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540" b="25106"/>
          <a:stretch/>
        </p:blipFill>
        <p:spPr>
          <a:xfrm>
            <a:off x="9351960" y="2067063"/>
            <a:ext cx="2741131" cy="4221178"/>
          </a:xfrm>
          <a:prstGeom prst="rect">
            <a:avLst/>
          </a:prstGeom>
        </p:spPr>
      </p:pic>
      <p:pic>
        <p:nvPicPr>
          <p:cNvPr id="18" name="Image 17">
            <a:extLst>
              <a:ext uri="{FF2B5EF4-FFF2-40B4-BE49-F238E27FC236}">
                <a16:creationId xmlns:a16="http://schemas.microsoft.com/office/drawing/2014/main" id="{6D53F0C4-AF46-4495-99F2-7CEEB444F6CD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93" t="6666" r="20230"/>
          <a:stretch/>
        </p:blipFill>
        <p:spPr>
          <a:xfrm>
            <a:off x="1118680" y="4294071"/>
            <a:ext cx="2401424" cy="1994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6375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6C199F8E-341E-46A7-B110-AD3C7656A290}"/>
              </a:ext>
            </a:extLst>
          </p:cNvPr>
          <p:cNvSpPr txBox="1"/>
          <p:nvPr/>
        </p:nvSpPr>
        <p:spPr>
          <a:xfrm>
            <a:off x="1903445" y="131742"/>
            <a:ext cx="8864081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800" b="1">
                <a:solidFill>
                  <a:schemeClr val="bg1"/>
                </a:solidFill>
              </a:rPr>
              <a:t>Reflections on REMI's network 10th anniversary</a:t>
            </a:r>
            <a:endParaRPr lang="fr-FR" sz="2800" b="1" dirty="0">
              <a:solidFill>
                <a:schemeClr val="bg1"/>
              </a:solidFill>
            </a:endParaRPr>
          </a:p>
        </p:txBody>
      </p:sp>
      <p:pic>
        <p:nvPicPr>
          <p:cNvPr id="2050" name="Picture 2" descr="Accueil">
            <a:extLst>
              <a:ext uri="{FF2B5EF4-FFF2-40B4-BE49-F238E27FC236}">
                <a16:creationId xmlns:a16="http://schemas.microsoft.com/office/drawing/2014/main" id="{22B68FE7-0173-4151-8E57-697028E36D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3500" y="789967"/>
            <a:ext cx="1905000" cy="647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CD61034-5E14-438D-9480-541EF0C14036}"/>
              </a:ext>
            </a:extLst>
          </p:cNvPr>
          <p:cNvSpPr/>
          <p:nvPr/>
        </p:nvSpPr>
        <p:spPr>
          <a:xfrm>
            <a:off x="754254" y="1767024"/>
            <a:ext cx="1120104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b="1">
                <a:latin typeface="Calibri-Bold"/>
                <a:hlinkClick r:id="rId3"/>
              </a:rPr>
              <a:t>Livre Blanc </a:t>
            </a:r>
            <a:r>
              <a:rPr lang="fr-FR" b="1">
                <a:latin typeface="Calibri-Bold"/>
              </a:rPr>
              <a:t>« UTILISATION SECONDAIRE DES DONNÉES D’IMAGERIE À DES FINS DE RECHERCHE», publié conjointement par le Collège des Enseignants en Radiologie de France (CERF), la Société Française de Radiologie (SFR) et France Life Imaging (FLI).</a:t>
            </a:r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388A70C-39BF-45FA-B093-F09D9177B1AE}"/>
              </a:ext>
            </a:extLst>
          </p:cNvPr>
          <p:cNvSpPr/>
          <p:nvPr/>
        </p:nvSpPr>
        <p:spPr>
          <a:xfrm>
            <a:off x="754254" y="3019711"/>
            <a:ext cx="3477278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u="sng">
                <a:latin typeface="Calibri-Bold"/>
              </a:rPr>
              <a:t>4 WG:</a:t>
            </a:r>
          </a:p>
          <a:p>
            <a:pPr marL="285750" indent="-285750">
              <a:buFontTx/>
              <a:buChar char="-"/>
            </a:pPr>
            <a:r>
              <a:rPr lang="en-GB">
                <a:latin typeface="Calibri-Bold"/>
              </a:rPr>
              <a:t>fMRI</a:t>
            </a:r>
          </a:p>
          <a:p>
            <a:pPr marL="285750" indent="-285750">
              <a:buFontTx/>
              <a:buChar char="-"/>
            </a:pPr>
            <a:r>
              <a:rPr lang="en-GB">
                <a:latin typeface="Calibri-Bold"/>
              </a:rPr>
              <a:t>DWI</a:t>
            </a:r>
            <a:endParaRPr lang="en-GB"/>
          </a:p>
          <a:p>
            <a:pPr marL="285750" indent="-285750">
              <a:buFontTx/>
              <a:buChar char="-"/>
            </a:pPr>
            <a:r>
              <a:rPr lang="en-GB"/>
              <a:t>2</a:t>
            </a:r>
            <a:r>
              <a:rPr lang="en-GB" baseline="30000"/>
              <a:t>nd</a:t>
            </a:r>
            <a:r>
              <a:rPr lang="en-GB"/>
              <a:t> level tatistics</a:t>
            </a:r>
          </a:p>
          <a:p>
            <a:pPr marL="285750" indent="-285750">
              <a:buFontTx/>
              <a:buChar char="-"/>
            </a:pPr>
            <a:r>
              <a:rPr lang="en-GB">
                <a:latin typeface="Calibri-Bold"/>
              </a:rPr>
              <a:t>(Plateform management)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33860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6C199F8E-341E-46A7-B110-AD3C7656A290}"/>
              </a:ext>
            </a:extLst>
          </p:cNvPr>
          <p:cNvSpPr txBox="1"/>
          <p:nvPr/>
        </p:nvSpPr>
        <p:spPr>
          <a:xfrm>
            <a:off x="1903445" y="131742"/>
            <a:ext cx="8864081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800" b="1">
                <a:solidFill>
                  <a:schemeClr val="bg1"/>
                </a:solidFill>
              </a:rPr>
              <a:t>Reflections on REMI's network 10th anniversary</a:t>
            </a:r>
            <a:endParaRPr lang="fr-FR" sz="2800" b="1" dirty="0">
              <a:solidFill>
                <a:schemeClr val="bg1"/>
              </a:solidFill>
            </a:endParaRP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CC7BD92A-61BA-4E1A-BBFB-3487D449570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14" t="2884" r="2260" b="4209"/>
          <a:stretch/>
        </p:blipFill>
        <p:spPr>
          <a:xfrm>
            <a:off x="2161161" y="826851"/>
            <a:ext cx="7869678" cy="5555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08806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F35E8340-28C2-479A-BA88-E142C183E71A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532" y="1413792"/>
            <a:ext cx="4570791" cy="4326608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2DFA2D98-2149-457D-928F-3641B5EE6D1A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2191" y="1413792"/>
            <a:ext cx="6014618" cy="3979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83012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111275C1-0C5F-496A-99FE-6E2CCA761AC9}"/>
              </a:ext>
            </a:extLst>
          </p:cNvPr>
          <p:cNvSpPr txBox="1"/>
          <p:nvPr/>
        </p:nvSpPr>
        <p:spPr>
          <a:xfrm>
            <a:off x="1903445" y="131742"/>
            <a:ext cx="8864081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fr-FR" sz="2800" b="1">
                <a:solidFill>
                  <a:schemeClr val="bg1"/>
                </a:solidFill>
              </a:rPr>
              <a:t>A new website for the NeuroImaging club</a:t>
            </a:r>
            <a:endParaRPr lang="fr-FR" sz="2800" b="1" dirty="0">
              <a:solidFill>
                <a:schemeClr val="bg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D52A4AB-1A31-42FF-A151-7D9F9E3B83F9}"/>
              </a:ext>
            </a:extLst>
          </p:cNvPr>
          <p:cNvSpPr/>
          <p:nvPr/>
        </p:nvSpPr>
        <p:spPr>
          <a:xfrm>
            <a:off x="9510408" y="1197272"/>
            <a:ext cx="265240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>
                <a:hlinkClick r:id="rId2"/>
              </a:rPr>
              <a:t>Zenodo : community</a:t>
            </a:r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2255FDF-0186-4E3A-8A07-D367B827E0A8}"/>
              </a:ext>
            </a:extLst>
          </p:cNvPr>
          <p:cNvSpPr/>
          <p:nvPr/>
        </p:nvSpPr>
        <p:spPr>
          <a:xfrm>
            <a:off x="165370" y="883780"/>
            <a:ext cx="9251004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600">
                <a:solidFill>
                  <a:srgbClr val="000000"/>
                </a:solidFill>
              </a:rPr>
              <a:t>- </a:t>
            </a:r>
            <a:r>
              <a:rPr lang="fr-FR" sz="1600">
                <a:solidFill>
                  <a:srgbClr val="006990"/>
                </a:solidFill>
                <a:hlinkClick r:id="rId3"/>
              </a:rPr>
              <a:t>https://project.crnl.fr/page/</a:t>
            </a:r>
            <a:r>
              <a:rPr lang="fr-FR" sz="1600">
                <a:solidFill>
                  <a:srgbClr val="000000"/>
                </a:solidFill>
              </a:rPr>
              <a:t> mais drupal9 n'est pas à jour (et ne sera plus maintenu bientôt) + solution peu aimée des informaticiens du CRNL car failles de sécurité potentielles (quid de la mise à jour de Drupal...)</a:t>
            </a:r>
          </a:p>
          <a:p>
            <a:r>
              <a:rPr lang="fr-FR" sz="1600">
                <a:solidFill>
                  <a:srgbClr val="000000"/>
                </a:solidFill>
              </a:rPr>
              <a:t>- un site cnrs mais c'est limité à 2 Go et on a déjà plus de 3 Go de fichiers en téléchargements</a:t>
            </a:r>
          </a:p>
          <a:p>
            <a:r>
              <a:rPr lang="fr-FR" sz="1600">
                <a:solidFill>
                  <a:srgbClr val="000000"/>
                </a:solidFill>
              </a:rPr>
              <a:t>- inserm : pas de proposition "gratuite"</a:t>
            </a:r>
          </a:p>
          <a:p>
            <a:r>
              <a:rPr lang="fr-FR" sz="1600">
                <a:solidFill>
                  <a:srgbClr val="000000"/>
                </a:solidFill>
              </a:rPr>
              <a:t>- </a:t>
            </a:r>
            <a:r>
              <a:rPr lang="fr-FR" sz="1600">
                <a:solidFill>
                  <a:srgbClr val="006990"/>
                </a:solidFill>
                <a:hlinkClick r:id="rId4"/>
              </a:rPr>
              <a:t>https://grist.numerique.gouv.fr/o/docs/</a:t>
            </a:r>
            <a:r>
              <a:rPr lang="fr-FR" sz="1600">
                <a:solidFill>
                  <a:srgbClr val="000000"/>
                </a:solidFill>
              </a:rPr>
              <a:t> ou d'autres via le CNRS mais c'est uniquement avec identification individuelle via Renater donc pas ouvert sur le web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AB08774-A8A2-4E51-B21D-2A11635A80DF}"/>
              </a:ext>
            </a:extLst>
          </p:cNvPr>
          <p:cNvSpPr/>
          <p:nvPr/>
        </p:nvSpPr>
        <p:spPr>
          <a:xfrm>
            <a:off x="194554" y="2478247"/>
            <a:ext cx="11997446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600" b="1">
                <a:solidFill>
                  <a:srgbClr val="000000"/>
                </a:solidFill>
              </a:rPr>
              <a:t>Notion</a:t>
            </a:r>
            <a:endParaRPr lang="fr-FR" sz="1600">
              <a:solidFill>
                <a:srgbClr val="000000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fr-FR" sz="1600">
                <a:solidFill>
                  <a:srgbClr val="000000"/>
                </a:solidFill>
              </a:rPr>
              <a:t>Très flexible : pages wiki, bases de données, upload de fichiers, calendrier intégré (vue "Calendar" sur une base de données)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1600">
                <a:solidFill>
                  <a:srgbClr val="000000"/>
                </a:solidFill>
              </a:rPr>
              <a:t>Interface simple, bon pour petites équipes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1600">
                <a:solidFill>
                  <a:srgbClr val="000000"/>
                </a:solidFill>
              </a:rPr>
              <a:t>Gratuit pour usage basique, payant pour plus de fonctionnalités/stockage</a:t>
            </a:r>
          </a:p>
          <a:p>
            <a:r>
              <a:rPr lang="fr-FR" sz="1600" b="1">
                <a:solidFill>
                  <a:srgbClr val="000000"/>
                </a:solidFill>
              </a:rPr>
              <a:t>Nextcloud</a:t>
            </a:r>
            <a:endParaRPr lang="fr-FR" sz="1600">
              <a:solidFill>
                <a:srgbClr val="000000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fr-FR" sz="1600">
                <a:solidFill>
                  <a:srgbClr val="000000"/>
                </a:solidFill>
              </a:rPr>
              <a:t>Solution auto-hébergée (intéressant si l'université a déjà une instance) : module Collectif/Wiki + Files pour les documents + Calendar intégré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1600">
                <a:solidFill>
                  <a:srgbClr val="000000"/>
                </a:solidFill>
              </a:rPr>
              <a:t>Contrôle total des données, souvent déjà proposé par les services informatiques universitaires</a:t>
            </a:r>
          </a:p>
          <a:p>
            <a:r>
              <a:rPr lang="fr-FR" sz="1600" b="1">
                <a:solidFill>
                  <a:srgbClr val="000000"/>
                </a:solidFill>
              </a:rPr>
              <a:t>GitHub/GitLab : au CRNL ou online </a:t>
            </a:r>
            <a:endParaRPr lang="fr-FR" sz="1600">
              <a:solidFill>
                <a:srgbClr val="000000"/>
              </a:solidFill>
            </a:endParaRPr>
          </a:p>
          <a:p>
            <a:r>
              <a:rPr lang="fr-FR" sz="1600" b="1">
                <a:solidFill>
                  <a:srgbClr val="000000"/>
                </a:solidFill>
              </a:rPr>
              <a:t>Google Sites + Google Drive (gratuit avec un compte Google/Workspace)</a:t>
            </a:r>
            <a:endParaRPr lang="fr-FR" sz="1600">
              <a:solidFill>
                <a:srgbClr val="000000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fr-FR" sz="1600">
                <a:solidFill>
                  <a:srgbClr val="000000"/>
                </a:solidFill>
              </a:rPr>
              <a:t>Google Sites pour le wiki, Drive pour héberger les ppt/docs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1600">
                <a:solidFill>
                  <a:srgbClr val="000000"/>
                </a:solidFill>
              </a:rPr>
              <a:t>Simple mais moins riche qu'un vrai wiki collaboratif</a:t>
            </a:r>
          </a:p>
          <a:p>
            <a:r>
              <a:rPr lang="fr-FR" sz="1600" b="1">
                <a:solidFill>
                  <a:srgbClr val="000000"/>
                </a:solidFill>
              </a:rPr>
              <a:t>Wiki.js (auto-hébergé)</a:t>
            </a:r>
            <a:endParaRPr lang="fr-FR" sz="1600">
              <a:solidFill>
                <a:srgbClr val="000000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fr-FR" sz="1600">
                <a:solidFill>
                  <a:srgbClr val="000000"/>
                </a:solidFill>
              </a:rPr>
              <a:t>Solution open-source complète, mais nécessite un serveur pour l'héberger</a:t>
            </a:r>
          </a:p>
          <a:p>
            <a:r>
              <a:rPr lang="fr-FR" sz="1600">
                <a:solidFill>
                  <a:srgbClr val="000000"/>
                </a:solidFill>
              </a:rPr>
              <a:t>Pour un groupe de travail universitaire, je vérifierais d'abord si l'UJM a une instance Nextcloud institutionnelle — sinon, </a:t>
            </a:r>
            <a:r>
              <a:rPr lang="fr-FR" sz="1600" b="1">
                <a:solidFill>
                  <a:srgbClr val="000000"/>
                </a:solidFill>
              </a:rPr>
              <a:t>Notion</a:t>
            </a:r>
            <a:r>
              <a:rPr lang="fr-FR" sz="1600">
                <a:solidFill>
                  <a:srgbClr val="000000"/>
                </a:solidFill>
              </a:rPr>
              <a:t> est probablement le meilleur compromis simplicité/fonctionnalités pour démarrer rapidement sans rien héberger.</a:t>
            </a:r>
            <a:endParaRPr lang="fr-FR" sz="1600" b="0" i="0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5511511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1A1FD4F1-9BDD-4C4B-B22C-EA7F9E38A1FA}"/>
              </a:ext>
            </a:extLst>
          </p:cNvPr>
          <p:cNvSpPr txBox="1"/>
          <p:nvPr/>
        </p:nvSpPr>
        <p:spPr>
          <a:xfrm>
            <a:off x="1903445" y="131742"/>
            <a:ext cx="8864081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fr-FR" sz="2800" b="1">
                <a:solidFill>
                  <a:schemeClr val="bg1"/>
                </a:solidFill>
              </a:rPr>
              <a:t>A new website for the NeuroImaging club</a:t>
            </a:r>
            <a:endParaRPr lang="fr-FR" sz="2800" b="1" dirty="0">
              <a:solidFill>
                <a:schemeClr val="bg1"/>
              </a:solidFill>
            </a:endParaRPr>
          </a:p>
        </p:txBody>
      </p:sp>
      <p:graphicFrame>
        <p:nvGraphicFramePr>
          <p:cNvPr id="3" name="Tableau 2">
            <a:extLst>
              <a:ext uri="{FF2B5EF4-FFF2-40B4-BE49-F238E27FC236}">
                <a16:creationId xmlns:a16="http://schemas.microsoft.com/office/drawing/2014/main" id="{C9C12BAC-FA1D-4024-B6B0-D040EC464B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2998697"/>
              </p:ext>
            </p:extLst>
          </p:nvPr>
        </p:nvGraphicFramePr>
        <p:xfrm>
          <a:off x="152400" y="865581"/>
          <a:ext cx="11887199" cy="54102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676400">
                  <a:extLst>
                    <a:ext uri="{9D8B030D-6E8A-4147-A177-3AD203B41FA5}">
                      <a16:colId xmlns:a16="http://schemas.microsoft.com/office/drawing/2014/main" val="1044876963"/>
                    </a:ext>
                  </a:extLst>
                </a:gridCol>
                <a:gridCol w="890334">
                  <a:extLst>
                    <a:ext uri="{9D8B030D-6E8A-4147-A177-3AD203B41FA5}">
                      <a16:colId xmlns:a16="http://schemas.microsoft.com/office/drawing/2014/main" val="1698807270"/>
                    </a:ext>
                  </a:extLst>
                </a:gridCol>
                <a:gridCol w="1366515">
                  <a:extLst>
                    <a:ext uri="{9D8B030D-6E8A-4147-A177-3AD203B41FA5}">
                      <a16:colId xmlns:a16="http://schemas.microsoft.com/office/drawing/2014/main" val="4214563883"/>
                    </a:ext>
                  </a:extLst>
                </a:gridCol>
                <a:gridCol w="1655933">
                  <a:extLst>
                    <a:ext uri="{9D8B030D-6E8A-4147-A177-3AD203B41FA5}">
                      <a16:colId xmlns:a16="http://schemas.microsoft.com/office/drawing/2014/main" val="2557244510"/>
                    </a:ext>
                  </a:extLst>
                </a:gridCol>
                <a:gridCol w="1874270">
                  <a:extLst>
                    <a:ext uri="{9D8B030D-6E8A-4147-A177-3AD203B41FA5}">
                      <a16:colId xmlns:a16="http://schemas.microsoft.com/office/drawing/2014/main" val="1334128434"/>
                    </a:ext>
                  </a:extLst>
                </a:gridCol>
                <a:gridCol w="1343322">
                  <a:extLst>
                    <a:ext uri="{9D8B030D-6E8A-4147-A177-3AD203B41FA5}">
                      <a16:colId xmlns:a16="http://schemas.microsoft.com/office/drawing/2014/main" val="3841505282"/>
                    </a:ext>
                  </a:extLst>
                </a:gridCol>
                <a:gridCol w="3080425">
                  <a:extLst>
                    <a:ext uri="{9D8B030D-6E8A-4147-A177-3AD203B41FA5}">
                      <a16:colId xmlns:a16="http://schemas.microsoft.com/office/drawing/2014/main" val="31473036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b="1"/>
                        <a:t>Platform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b="1"/>
                        <a:t>Cost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b="1"/>
                        <a:t>for 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/>
                        <a:t>Accessibility for readers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/>
                        <a:t>Regulation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/>
                        <a:t>Server location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/>
                        <a:t>Size limit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/>
                        <a:t>Comments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87671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OSF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web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USA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Germany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Easy to use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77806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Wiki du CRNL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Ldap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FR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CRNL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Not public on the web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35502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Projets du CRNL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Web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FR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CRNL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Outdated version of the soft, soon not even maintained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52059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GitLab du CRNL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Ldap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FR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CRNL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/>
                        <a:t>Not public on the web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44466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Site web CNRS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Web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USA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USA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2 Go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3,2 Go in 7 years on OSF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07902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/>
                        <a:t>NextCloud </a:t>
                      </a:r>
                      <a:r>
                        <a:rPr lang="en-GB" sz="1400"/>
                        <a:t>(sDRIVE au CNRS, etc.)</a:t>
                      </a:r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Renater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FR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FR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Variable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64228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Grist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Renater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FR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FR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08802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Zenodo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Web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EU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Switzerland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2 Go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No agenda/text on the page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13652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GitHub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Web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USA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24003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Notion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04783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GoogleSite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USA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39700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304763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111275C1-0C5F-496A-99FE-6E2CCA761AC9}"/>
              </a:ext>
            </a:extLst>
          </p:cNvPr>
          <p:cNvSpPr txBox="1"/>
          <p:nvPr/>
        </p:nvSpPr>
        <p:spPr>
          <a:xfrm>
            <a:off x="1903445" y="131742"/>
            <a:ext cx="8864081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fr-FR" sz="2800" b="1">
                <a:solidFill>
                  <a:schemeClr val="bg1"/>
                </a:solidFill>
              </a:rPr>
              <a:t>Resources to share</a:t>
            </a:r>
            <a:endParaRPr lang="fr-FR" sz="2800" b="1" dirty="0">
              <a:solidFill>
                <a:schemeClr val="bg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34E9F1-CA17-4914-99B0-26A71DFD2E0B}"/>
              </a:ext>
            </a:extLst>
          </p:cNvPr>
          <p:cNvSpPr/>
          <p:nvPr/>
        </p:nvSpPr>
        <p:spPr>
          <a:xfrm>
            <a:off x="781145" y="1554871"/>
            <a:ext cx="39415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0" i="0" u="none" strike="noStrike">
                <a:solidFill>
                  <a:srgbClr val="006990"/>
                </a:solidFill>
                <a:effectLst/>
                <a:hlinkClick r:id="rId2"/>
              </a:rPr>
              <a:t>Elements of fMRI analysis</a:t>
            </a:r>
            <a:r>
              <a:rPr lang="en-US" b="0" i="0">
                <a:solidFill>
                  <a:srgbClr val="000000"/>
                </a:solidFill>
                <a:effectLst/>
              </a:rPr>
              <a:t> by Tor Wager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45039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111275C1-0C5F-496A-99FE-6E2CCA761AC9}"/>
              </a:ext>
            </a:extLst>
          </p:cNvPr>
          <p:cNvSpPr txBox="1"/>
          <p:nvPr/>
        </p:nvSpPr>
        <p:spPr>
          <a:xfrm>
            <a:off x="1903445" y="131742"/>
            <a:ext cx="8864081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fr-FR" sz="2800" b="1">
                <a:solidFill>
                  <a:schemeClr val="bg1"/>
                </a:solidFill>
              </a:rPr>
              <a:t>Latest news about the 7T scanner in Lyon</a:t>
            </a:r>
            <a:endParaRPr lang="fr-FR" sz="2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50503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111275C1-0C5F-496A-99FE-6E2CCA761AC9}"/>
              </a:ext>
            </a:extLst>
          </p:cNvPr>
          <p:cNvSpPr txBox="1"/>
          <p:nvPr/>
        </p:nvSpPr>
        <p:spPr>
          <a:xfrm>
            <a:off x="1903445" y="131742"/>
            <a:ext cx="8864081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fr-FR" sz="2800" b="1">
                <a:solidFill>
                  <a:schemeClr val="bg1"/>
                </a:solidFill>
              </a:rPr>
              <a:t>Next meetings</a:t>
            </a:r>
            <a:endParaRPr lang="fr-FR" sz="2800" b="1" dirty="0">
              <a:solidFill>
                <a:schemeClr val="bg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3191589-8CC3-46DA-B58F-87FBA8A5546E}"/>
              </a:ext>
            </a:extLst>
          </p:cNvPr>
          <p:cNvSpPr/>
          <p:nvPr/>
        </p:nvSpPr>
        <p:spPr>
          <a:xfrm>
            <a:off x="1600200" y="1697415"/>
            <a:ext cx="843915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i="0">
                <a:solidFill>
                  <a:srgbClr val="334155"/>
                </a:solidFill>
                <a:effectLst/>
              </a:rPr>
              <a:t>66) 16 Oct. 2026: Céline Provins, MRIQC &amp; Defacing, Switzerland</a:t>
            </a:r>
            <a:br>
              <a:rPr lang="en-US"/>
            </a:br>
            <a:r>
              <a:rPr lang="en-US" i="0">
                <a:solidFill>
                  <a:srgbClr val="334155"/>
                </a:solidFill>
                <a:effectLst/>
              </a:rPr>
              <a:t>67) 27 Nov. 2026: Hélène Ratiney, Creatis Lab</a:t>
            </a:r>
            <a:br>
              <a:rPr lang="en-US"/>
            </a:br>
            <a:r>
              <a:rPr lang="en-US" i="0">
                <a:solidFill>
                  <a:srgbClr val="334155"/>
                </a:solidFill>
                <a:effectLst/>
              </a:rPr>
              <a:t>68) 18 Dec. 2026</a:t>
            </a:r>
            <a:br>
              <a:rPr lang="en-US"/>
            </a:br>
            <a:r>
              <a:rPr lang="en-US" i="0">
                <a:solidFill>
                  <a:srgbClr val="334155"/>
                </a:solidFill>
                <a:effectLst/>
              </a:rPr>
              <a:t>69) 22 Jan. 2027: special meeting for new students &amp; new colleagues @CRNL</a:t>
            </a:r>
            <a:br>
              <a:rPr lang="en-US"/>
            </a:br>
            <a:r>
              <a:rPr lang="en-US" i="0">
                <a:solidFill>
                  <a:srgbClr val="334155"/>
                </a:solidFill>
                <a:effectLst/>
              </a:rPr>
              <a:t>70) 12 Feb. 2027</a:t>
            </a:r>
            <a:br>
              <a:rPr lang="en-US"/>
            </a:br>
            <a:r>
              <a:rPr lang="en-US" i="0">
                <a:solidFill>
                  <a:srgbClr val="334155"/>
                </a:solidFill>
                <a:effectLst/>
              </a:rPr>
              <a:t>71) 26 March 2027</a:t>
            </a:r>
            <a:br>
              <a:rPr lang="en-US"/>
            </a:br>
            <a:r>
              <a:rPr lang="en-US" i="0">
                <a:solidFill>
                  <a:srgbClr val="334155"/>
                </a:solidFill>
                <a:effectLst/>
              </a:rPr>
              <a:t>72) 30 April 2027</a:t>
            </a:r>
            <a:br>
              <a:rPr lang="en-US"/>
            </a:br>
            <a:r>
              <a:rPr lang="en-US" i="0">
                <a:solidFill>
                  <a:srgbClr val="334155"/>
                </a:solidFill>
                <a:effectLst/>
              </a:rPr>
              <a:t>73) 28 May 2027</a:t>
            </a:r>
            <a:br>
              <a:rPr lang="en-US"/>
            </a:br>
            <a:r>
              <a:rPr lang="en-US" i="0">
                <a:solidFill>
                  <a:srgbClr val="334155"/>
                </a:solidFill>
                <a:effectLst/>
              </a:rPr>
              <a:t>74) 25 June 2027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6262849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602</TotalTime>
  <Words>1157</Words>
  <Application>Microsoft Macintosh PowerPoint</Application>
  <PresentationFormat>Grand écran</PresentationFormat>
  <Paragraphs>150</Paragraphs>
  <Slides>15</Slides>
  <Notes>3</Notes>
  <HiddenSlides>0</HiddenSlides>
  <MMClips>0</MMClips>
  <ScaleCrop>false</ScaleCrop>
  <HeadingPairs>
    <vt:vector size="8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Serveurs OLE incorporés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23" baseType="lpstr">
      <vt:lpstr>Arial</vt:lpstr>
      <vt:lpstr>Avenir Book</vt:lpstr>
      <vt:lpstr>Calibri</vt:lpstr>
      <vt:lpstr>Calibri Light</vt:lpstr>
      <vt:lpstr>Calibri-Bold</vt:lpstr>
      <vt:lpstr>Google Sans Text</vt:lpstr>
      <vt:lpstr>Thème Office</vt:lpstr>
      <vt:lpstr>Objet d’environnement du Gestionnaire de liaisons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Gaelle LEROUX</dc:creator>
  <cp:lastModifiedBy>Isabelle Faillenot</cp:lastModifiedBy>
  <cp:revision>43</cp:revision>
  <dcterms:created xsi:type="dcterms:W3CDTF">2026-09-08T18:57:18Z</dcterms:created>
  <dcterms:modified xsi:type="dcterms:W3CDTF">2026-09-15T07:53:43Z</dcterms:modified>
</cp:coreProperties>
</file>